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Inter Bold" charset="1" panose="020B0802030000000004"/>
      <p:regular r:id="rId11"/>
    </p:embeddedFont>
    <p:embeddedFont>
      <p:font typeface="Montserrat Semi-Bold" charset="1" panose="00000700000000000000"/>
      <p:regular r:id="rId12"/>
    </p:embeddedFont>
    <p:embeddedFont>
      <p:font typeface="Canva Sans Bold" charset="1" panose="020B0803030501040103"/>
      <p:regular r:id="rId13"/>
    </p:embeddedFont>
    <p:embeddedFont>
      <p:font typeface="Poppins" charset="1" panose="00000500000000000000"/>
      <p:regular r:id="rId14"/>
    </p:embeddedFont>
    <p:embeddedFont>
      <p:font typeface="Canva Sans" charset="1" panose="020B0503030501040103"/>
      <p:regular r:id="rId15"/>
    </p:embeddedFont>
    <p:embeddedFont>
      <p:font typeface="Poppins Semi-Bold" charset="1" panose="00000700000000000000"/>
      <p:regular r:id="rId16"/>
    </p:embeddedFont>
    <p:embeddedFont>
      <p:font typeface="Canva Sans Italics" charset="1" panose="020B05030305010401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115584" y="-148113"/>
            <a:ext cx="17566674" cy="10680117"/>
            <a:chOff x="0" y="0"/>
            <a:chExt cx="4626614" cy="2812870"/>
          </a:xfrm>
        </p:grpSpPr>
        <p:sp>
          <p:nvSpPr>
            <p:cNvPr name="Freeform 3" id="3"/>
            <p:cNvSpPr/>
            <p:nvPr/>
          </p:nvSpPr>
          <p:spPr>
            <a:xfrm flipH="false" flipV="false" rot="0">
              <a:off x="0" y="0"/>
              <a:ext cx="4626614" cy="2812870"/>
            </a:xfrm>
            <a:custGeom>
              <a:avLst/>
              <a:gdLst/>
              <a:ahLst/>
              <a:cxnLst/>
              <a:rect r="r" b="b" t="t" l="l"/>
              <a:pathLst>
                <a:path h="2812870" w="4626614">
                  <a:moveTo>
                    <a:pt x="0" y="0"/>
                  </a:moveTo>
                  <a:lnTo>
                    <a:pt x="4626614" y="0"/>
                  </a:lnTo>
                  <a:lnTo>
                    <a:pt x="4626614" y="2812870"/>
                  </a:lnTo>
                  <a:lnTo>
                    <a:pt x="0" y="2812870"/>
                  </a:lnTo>
                  <a:close/>
                </a:path>
              </a:pathLst>
            </a:custGeom>
            <a:gradFill rotWithShape="true">
              <a:gsLst>
                <a:gs pos="0">
                  <a:srgbClr val="283E51">
                    <a:alpha val="0"/>
                  </a:srgbClr>
                </a:gs>
                <a:gs pos="33333">
                  <a:srgbClr val="283E51">
                    <a:alpha val="75500"/>
                  </a:srgbClr>
                </a:gs>
                <a:gs pos="66667">
                  <a:srgbClr val="283E51">
                    <a:alpha val="100000"/>
                  </a:srgbClr>
                </a:gs>
                <a:gs pos="100000">
                  <a:srgbClr val="122737">
                    <a:alpha val="100000"/>
                  </a:srgbClr>
                </a:gs>
              </a:gsLst>
              <a:lin ang="0"/>
            </a:gradFill>
          </p:spPr>
        </p:sp>
        <p:sp>
          <p:nvSpPr>
            <p:cNvPr name="TextBox 4" id="4"/>
            <p:cNvSpPr txBox="true"/>
            <p:nvPr/>
          </p:nvSpPr>
          <p:spPr>
            <a:xfrm>
              <a:off x="0" y="-38100"/>
              <a:ext cx="4626614" cy="285097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81945" y="2636944"/>
            <a:ext cx="5141069" cy="514106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89A8"/>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229981" y="5191946"/>
            <a:ext cx="2586067" cy="258606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CAE4">
                <a:alpha val="49804"/>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2572669" y="4077425"/>
            <a:ext cx="10817167" cy="963334"/>
          </a:xfrm>
          <a:prstGeom prst="rect">
            <a:avLst/>
          </a:prstGeom>
        </p:spPr>
        <p:txBody>
          <a:bodyPr anchor="t" rtlCol="false" tIns="0" lIns="0" bIns="0" rIns="0">
            <a:spAutoFit/>
          </a:bodyPr>
          <a:lstStyle/>
          <a:p>
            <a:pPr algn="l">
              <a:lnSpc>
                <a:spcPts val="7802"/>
              </a:lnSpc>
            </a:pPr>
            <a:r>
              <a:rPr lang="en-US" sz="5573" b="true">
                <a:solidFill>
                  <a:srgbClr val="FFFFFF"/>
                </a:solidFill>
                <a:latin typeface="Inter Bold"/>
                <a:ea typeface="Inter Bold"/>
                <a:cs typeface="Inter Bold"/>
                <a:sym typeface="Inter Bold"/>
              </a:rPr>
              <a:t>SPENDO:EXPENSE TRACKER</a:t>
            </a:r>
          </a:p>
        </p:txBody>
      </p:sp>
      <p:sp>
        <p:nvSpPr>
          <p:cNvPr name="TextBox 12" id="12"/>
          <p:cNvSpPr txBox="true"/>
          <p:nvPr/>
        </p:nvSpPr>
        <p:spPr>
          <a:xfrm rot="0">
            <a:off x="2616273" y="5149835"/>
            <a:ext cx="10387814" cy="772465"/>
          </a:xfrm>
          <a:prstGeom prst="rect">
            <a:avLst/>
          </a:prstGeom>
        </p:spPr>
        <p:txBody>
          <a:bodyPr anchor="t" rtlCol="false" tIns="0" lIns="0" bIns="0" rIns="0">
            <a:spAutoFit/>
          </a:bodyPr>
          <a:lstStyle/>
          <a:p>
            <a:pPr algn="l">
              <a:lnSpc>
                <a:spcPts val="3238"/>
              </a:lnSpc>
            </a:pPr>
            <a:r>
              <a:rPr lang="en-US" sz="2312" b="true">
                <a:solidFill>
                  <a:srgbClr val="CBE5FA"/>
                </a:solidFill>
                <a:latin typeface="Montserrat Semi-Bold"/>
                <a:ea typeface="Montserrat Semi-Bold"/>
                <a:cs typeface="Montserrat Semi-Bold"/>
                <a:sym typeface="Montserrat Semi-Bold"/>
              </a:rPr>
              <a:t>BY: NISHAN GARY S. JAYASINGHE LINDEGEDARA</a:t>
            </a:r>
          </a:p>
          <a:p>
            <a:pPr algn="l">
              <a:lnSpc>
                <a:spcPts val="2958"/>
              </a:lnSpc>
            </a:pPr>
            <a:r>
              <a:rPr lang="en-US" sz="2112" b="true">
                <a:solidFill>
                  <a:srgbClr val="CBE5FA"/>
                </a:solidFill>
                <a:latin typeface="Montserrat Semi-Bold"/>
                <a:ea typeface="Montserrat Semi-Bold"/>
                <a:cs typeface="Montserrat Semi-Bold"/>
                <a:sym typeface="Montserrat Semi-Bold"/>
              </a:rPr>
              <a:t>PHIL ORLAN D. MAJAM</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263744"/>
        </a:solidFill>
      </p:bgPr>
    </p:bg>
    <p:spTree>
      <p:nvGrpSpPr>
        <p:cNvPr id="1" name=""/>
        <p:cNvGrpSpPr/>
        <p:nvPr/>
      </p:nvGrpSpPr>
      <p:grpSpPr>
        <a:xfrm>
          <a:off x="0" y="0"/>
          <a:ext cx="0" cy="0"/>
          <a:chOff x="0" y="0"/>
          <a:chExt cx="0" cy="0"/>
        </a:xfrm>
      </p:grpSpPr>
      <p:grpSp>
        <p:nvGrpSpPr>
          <p:cNvPr name="Group 2" id="2"/>
          <p:cNvGrpSpPr/>
          <p:nvPr/>
        </p:nvGrpSpPr>
        <p:grpSpPr>
          <a:xfrm rot="0">
            <a:off x="15985854" y="8781148"/>
            <a:ext cx="1273446" cy="477152"/>
            <a:chOff x="0" y="0"/>
            <a:chExt cx="1084619" cy="406400"/>
          </a:xfrm>
        </p:grpSpPr>
        <p:sp>
          <p:nvSpPr>
            <p:cNvPr name="Freeform 3" id="3"/>
            <p:cNvSpPr/>
            <p:nvPr/>
          </p:nvSpPr>
          <p:spPr>
            <a:xfrm flipH="false" flipV="false" rot="0">
              <a:off x="0" y="0"/>
              <a:ext cx="1084619" cy="406400"/>
            </a:xfrm>
            <a:custGeom>
              <a:avLst/>
              <a:gdLst/>
              <a:ahLst/>
              <a:cxnLst/>
              <a:rect r="r" b="b" t="t" l="l"/>
              <a:pathLst>
                <a:path h="406400" w="1084619">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sp>
        <p:sp>
          <p:nvSpPr>
            <p:cNvPr name="TextBox 4" id="4"/>
            <p:cNvSpPr txBox="true"/>
            <p:nvPr/>
          </p:nvSpPr>
          <p:spPr>
            <a:xfrm>
              <a:off x="0" y="-38100"/>
              <a:ext cx="1084619" cy="444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6055598" y="8866465"/>
            <a:ext cx="1133958" cy="277942"/>
          </a:xfrm>
          <a:prstGeom prst="rect">
            <a:avLst/>
          </a:prstGeom>
        </p:spPr>
        <p:txBody>
          <a:bodyPr anchor="t" rtlCol="false" tIns="0" lIns="0" bIns="0" rIns="0">
            <a:spAutoFit/>
          </a:bodyPr>
          <a:lstStyle/>
          <a:p>
            <a:pPr algn="ctr">
              <a:lnSpc>
                <a:spcPts val="2292"/>
              </a:lnSpc>
            </a:pPr>
            <a:r>
              <a:rPr lang="en-US" sz="1637" b="true">
                <a:solidFill>
                  <a:srgbClr val="FFFFFF"/>
                </a:solidFill>
                <a:latin typeface="Canva Sans Bold"/>
                <a:ea typeface="Canva Sans Bold"/>
                <a:cs typeface="Canva Sans Bold"/>
                <a:sym typeface="Canva Sans Bold"/>
              </a:rPr>
              <a:t>Page 03</a:t>
            </a:r>
          </a:p>
        </p:txBody>
      </p:sp>
      <p:sp>
        <p:nvSpPr>
          <p:cNvPr name="TextBox 6" id="6"/>
          <p:cNvSpPr txBox="true"/>
          <p:nvPr/>
        </p:nvSpPr>
        <p:spPr>
          <a:xfrm rot="0">
            <a:off x="2027528" y="1469733"/>
            <a:ext cx="5209893" cy="1212715"/>
          </a:xfrm>
          <a:prstGeom prst="rect">
            <a:avLst/>
          </a:prstGeom>
        </p:spPr>
        <p:txBody>
          <a:bodyPr anchor="t" rtlCol="false" tIns="0" lIns="0" bIns="0" rIns="0">
            <a:spAutoFit/>
          </a:bodyPr>
          <a:lstStyle/>
          <a:p>
            <a:pPr algn="l">
              <a:lnSpc>
                <a:spcPts val="4679"/>
              </a:lnSpc>
            </a:pPr>
            <a:r>
              <a:rPr lang="en-US" sz="4679" b="true">
                <a:solidFill>
                  <a:srgbClr val="FFFFFF"/>
                </a:solidFill>
                <a:latin typeface="Inter Bold"/>
                <a:ea typeface="Inter Bold"/>
                <a:cs typeface="Inter Bold"/>
                <a:sym typeface="Inter Bold"/>
              </a:rPr>
              <a:t>PROBLEM STATEMENT:</a:t>
            </a:r>
          </a:p>
        </p:txBody>
      </p:sp>
      <p:sp>
        <p:nvSpPr>
          <p:cNvPr name="TextBox 7" id="7"/>
          <p:cNvSpPr txBox="true"/>
          <p:nvPr/>
        </p:nvSpPr>
        <p:spPr>
          <a:xfrm rot="0">
            <a:off x="2027528" y="2896422"/>
            <a:ext cx="6703292" cy="1073150"/>
          </a:xfrm>
          <a:prstGeom prst="rect">
            <a:avLst/>
          </a:prstGeom>
        </p:spPr>
        <p:txBody>
          <a:bodyPr anchor="t" rtlCol="false" tIns="0" lIns="0" bIns="0" rIns="0">
            <a:spAutoFit/>
          </a:bodyPr>
          <a:lstStyle/>
          <a:p>
            <a:pPr algn="l">
              <a:lnSpc>
                <a:spcPts val="2800"/>
              </a:lnSpc>
            </a:pPr>
            <a:r>
              <a:rPr lang="en-US" sz="2000">
                <a:solidFill>
                  <a:srgbClr val="FFFFFF"/>
                </a:solidFill>
                <a:latin typeface="Poppins"/>
                <a:ea typeface="Poppins"/>
                <a:cs typeface="Poppins"/>
                <a:sym typeface="Poppins"/>
              </a:rPr>
              <a:t>Scholars find it difficult to keep track of their expenses while balancing their academics, extracurriculars and home life </a:t>
            </a:r>
          </a:p>
        </p:txBody>
      </p:sp>
      <p:sp>
        <p:nvSpPr>
          <p:cNvPr name="TextBox 8" id="8"/>
          <p:cNvSpPr txBox="true"/>
          <p:nvPr/>
        </p:nvSpPr>
        <p:spPr>
          <a:xfrm rot="0">
            <a:off x="1385581" y="5466153"/>
            <a:ext cx="15415649" cy="1478270"/>
          </a:xfrm>
          <a:prstGeom prst="rect">
            <a:avLst/>
          </a:prstGeom>
        </p:spPr>
        <p:txBody>
          <a:bodyPr anchor="t" rtlCol="false" tIns="0" lIns="0" bIns="0" rIns="0">
            <a:spAutoFit/>
          </a:bodyPr>
          <a:lstStyle/>
          <a:p>
            <a:pPr algn="ctr">
              <a:lnSpc>
                <a:spcPts val="2980"/>
              </a:lnSpc>
              <a:spcBef>
                <a:spcPct val="0"/>
              </a:spcBef>
            </a:pPr>
            <a:r>
              <a:rPr lang="en-US" sz="2129">
                <a:solidFill>
                  <a:srgbClr val="FFFFFF"/>
                </a:solidFill>
                <a:latin typeface="Canva Sans"/>
                <a:ea typeface="Canva Sans"/>
                <a:cs typeface="Canva Sans"/>
                <a:sym typeface="Canva Sans"/>
              </a:rPr>
              <a:t>  Our objective is to help students in general with tracking their expenses to ensure their financial stability, we also plan on adding features like segregating their needs and their wants, classifications for their expenses such as food, school, miscellaneous etc. all encompassed within a menu-like structure. We’re also gonna make a simple bank account like system which asks for your total amount of money and the user can freely add or deduct cash to it</a:t>
            </a:r>
            <a:r>
              <a:rPr lang="en-US" sz="2129">
                <a:solidFill>
                  <a:srgbClr val="FFFFFF"/>
                </a:solidFill>
                <a:latin typeface="Canva Sans"/>
                <a:ea typeface="Canva Sans"/>
                <a:cs typeface="Canva Sans"/>
                <a:sym typeface="Canva Sans"/>
              </a:rPr>
              <a:t>:</a:t>
            </a:r>
          </a:p>
        </p:txBody>
      </p:sp>
      <p:sp>
        <p:nvSpPr>
          <p:cNvPr name="TextBox 9" id="9"/>
          <p:cNvSpPr txBox="true"/>
          <p:nvPr/>
        </p:nvSpPr>
        <p:spPr>
          <a:xfrm rot="0">
            <a:off x="2027528" y="4621885"/>
            <a:ext cx="13018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Objec</a:t>
            </a:r>
            <a:r>
              <a:rPr lang="en-US" sz="1899">
                <a:solidFill>
                  <a:srgbClr val="FFFFFF"/>
                </a:solidFill>
                <a:latin typeface="Canva Sans"/>
                <a:ea typeface="Canva Sans"/>
                <a:cs typeface="Canva Sans"/>
                <a:sym typeface="Canva Sans"/>
              </a:rPr>
              <a:t>tives:</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p:cSld>
    <p:bg>
      <p:bgPr>
        <a:solidFill>
          <a:srgbClr val="263744"/>
        </a:solidFill>
      </p:bgPr>
    </p:bg>
    <p:spTree>
      <p:nvGrpSpPr>
        <p:cNvPr id="1" name=""/>
        <p:cNvGrpSpPr/>
        <p:nvPr/>
      </p:nvGrpSpPr>
      <p:grpSpPr>
        <a:xfrm>
          <a:off x="0" y="0"/>
          <a:ext cx="0" cy="0"/>
          <a:chOff x="0" y="0"/>
          <a:chExt cx="0" cy="0"/>
        </a:xfrm>
      </p:grpSpPr>
      <p:grpSp>
        <p:nvGrpSpPr>
          <p:cNvPr name="Group 2" id="2"/>
          <p:cNvGrpSpPr/>
          <p:nvPr/>
        </p:nvGrpSpPr>
        <p:grpSpPr>
          <a:xfrm rot="0">
            <a:off x="15985854" y="8781148"/>
            <a:ext cx="1273446" cy="477152"/>
            <a:chOff x="0" y="0"/>
            <a:chExt cx="1084619" cy="406400"/>
          </a:xfrm>
        </p:grpSpPr>
        <p:sp>
          <p:nvSpPr>
            <p:cNvPr name="Freeform 3" id="3"/>
            <p:cNvSpPr/>
            <p:nvPr/>
          </p:nvSpPr>
          <p:spPr>
            <a:xfrm flipH="false" flipV="false" rot="0">
              <a:off x="0" y="0"/>
              <a:ext cx="1084619" cy="406400"/>
            </a:xfrm>
            <a:custGeom>
              <a:avLst/>
              <a:gdLst/>
              <a:ahLst/>
              <a:cxnLst/>
              <a:rect r="r" b="b" t="t" l="l"/>
              <a:pathLst>
                <a:path h="406400" w="1084619">
                  <a:moveTo>
                    <a:pt x="881419" y="0"/>
                  </a:moveTo>
                  <a:cubicBezTo>
                    <a:pt x="993644" y="0"/>
                    <a:pt x="1084619" y="90976"/>
                    <a:pt x="1084619" y="203200"/>
                  </a:cubicBezTo>
                  <a:cubicBezTo>
                    <a:pt x="1084619" y="315424"/>
                    <a:pt x="993644" y="406400"/>
                    <a:pt x="881419" y="406400"/>
                  </a:cubicBezTo>
                  <a:lnTo>
                    <a:pt x="203200" y="406400"/>
                  </a:lnTo>
                  <a:cubicBezTo>
                    <a:pt x="90976" y="406400"/>
                    <a:pt x="0" y="315424"/>
                    <a:pt x="0" y="203200"/>
                  </a:cubicBezTo>
                  <a:cubicBezTo>
                    <a:pt x="0" y="90976"/>
                    <a:pt x="90976" y="0"/>
                    <a:pt x="203200" y="0"/>
                  </a:cubicBezTo>
                  <a:close/>
                </a:path>
              </a:pathLst>
            </a:custGeom>
            <a:solidFill>
              <a:srgbClr val="6489A8"/>
            </a:solidFill>
          </p:spPr>
        </p:sp>
        <p:sp>
          <p:nvSpPr>
            <p:cNvPr name="TextBox 4" id="4"/>
            <p:cNvSpPr txBox="true"/>
            <p:nvPr/>
          </p:nvSpPr>
          <p:spPr>
            <a:xfrm>
              <a:off x="0" y="-38100"/>
              <a:ext cx="1084619" cy="444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6055598" y="8866465"/>
            <a:ext cx="1133958" cy="277942"/>
          </a:xfrm>
          <a:prstGeom prst="rect">
            <a:avLst/>
          </a:prstGeom>
        </p:spPr>
        <p:txBody>
          <a:bodyPr anchor="t" rtlCol="false" tIns="0" lIns="0" bIns="0" rIns="0">
            <a:spAutoFit/>
          </a:bodyPr>
          <a:lstStyle/>
          <a:p>
            <a:pPr algn="ctr">
              <a:lnSpc>
                <a:spcPts val="2292"/>
              </a:lnSpc>
            </a:pPr>
            <a:r>
              <a:rPr lang="en-US" sz="1637" b="true">
                <a:solidFill>
                  <a:srgbClr val="FFFFFF"/>
                </a:solidFill>
                <a:latin typeface="Canva Sans Bold"/>
                <a:ea typeface="Canva Sans Bold"/>
                <a:cs typeface="Canva Sans Bold"/>
                <a:sym typeface="Canva Sans Bold"/>
              </a:rPr>
              <a:t>Page 05</a:t>
            </a:r>
          </a:p>
        </p:txBody>
      </p:sp>
      <p:sp>
        <p:nvSpPr>
          <p:cNvPr name="TextBox 6" id="6"/>
          <p:cNvSpPr txBox="true"/>
          <p:nvPr/>
        </p:nvSpPr>
        <p:spPr>
          <a:xfrm rot="0">
            <a:off x="5152502" y="2498904"/>
            <a:ext cx="7982997" cy="860425"/>
          </a:xfrm>
          <a:prstGeom prst="rect">
            <a:avLst/>
          </a:prstGeom>
        </p:spPr>
        <p:txBody>
          <a:bodyPr anchor="t" rtlCol="false" tIns="0" lIns="0" bIns="0" rIns="0">
            <a:spAutoFit/>
          </a:bodyPr>
          <a:lstStyle/>
          <a:p>
            <a:pPr algn="ctr">
              <a:lnSpc>
                <a:spcPts val="6499"/>
              </a:lnSpc>
            </a:pPr>
            <a:r>
              <a:rPr lang="en-US" b="true" sz="6499">
                <a:solidFill>
                  <a:srgbClr val="E9EBED"/>
                </a:solidFill>
                <a:latin typeface="Inter Bold"/>
                <a:ea typeface="Inter Bold"/>
                <a:cs typeface="Inter Bold"/>
                <a:sym typeface="Inter Bold"/>
              </a:rPr>
              <a:t>FEATURES</a:t>
            </a:r>
          </a:p>
        </p:txBody>
      </p:sp>
      <p:grpSp>
        <p:nvGrpSpPr>
          <p:cNvPr name="Group 7" id="7"/>
          <p:cNvGrpSpPr/>
          <p:nvPr/>
        </p:nvGrpSpPr>
        <p:grpSpPr>
          <a:xfrm rot="0">
            <a:off x="4350810" y="9258300"/>
            <a:ext cx="9586380" cy="2409157"/>
            <a:chOff x="0" y="0"/>
            <a:chExt cx="2524808" cy="634511"/>
          </a:xfrm>
        </p:grpSpPr>
        <p:sp>
          <p:nvSpPr>
            <p:cNvPr name="Freeform 8" id="8"/>
            <p:cNvSpPr/>
            <p:nvPr/>
          </p:nvSpPr>
          <p:spPr>
            <a:xfrm flipH="false" flipV="false" rot="0">
              <a:off x="0" y="0"/>
              <a:ext cx="2524808" cy="634510"/>
            </a:xfrm>
            <a:custGeom>
              <a:avLst/>
              <a:gdLst/>
              <a:ahLst/>
              <a:cxnLst/>
              <a:rect r="r" b="b" t="t" l="l"/>
              <a:pathLst>
                <a:path h="634510" w="2524808">
                  <a:moveTo>
                    <a:pt x="41187" y="0"/>
                  </a:moveTo>
                  <a:lnTo>
                    <a:pt x="2483620" y="0"/>
                  </a:lnTo>
                  <a:cubicBezTo>
                    <a:pt x="2506368" y="0"/>
                    <a:pt x="2524808" y="18440"/>
                    <a:pt x="2524808" y="41187"/>
                  </a:cubicBezTo>
                  <a:lnTo>
                    <a:pt x="2524808" y="593323"/>
                  </a:lnTo>
                  <a:cubicBezTo>
                    <a:pt x="2524808" y="604247"/>
                    <a:pt x="2520469" y="614723"/>
                    <a:pt x="2512744" y="622447"/>
                  </a:cubicBezTo>
                  <a:cubicBezTo>
                    <a:pt x="2505020" y="630171"/>
                    <a:pt x="2494544" y="634510"/>
                    <a:pt x="2483620" y="634510"/>
                  </a:cubicBezTo>
                  <a:lnTo>
                    <a:pt x="41187" y="634510"/>
                  </a:lnTo>
                  <a:cubicBezTo>
                    <a:pt x="18440" y="634510"/>
                    <a:pt x="0" y="616070"/>
                    <a:pt x="0" y="593323"/>
                  </a:cubicBezTo>
                  <a:lnTo>
                    <a:pt x="0" y="41187"/>
                  </a:lnTo>
                  <a:cubicBezTo>
                    <a:pt x="0" y="18440"/>
                    <a:pt x="18440" y="0"/>
                    <a:pt x="41187" y="0"/>
                  </a:cubicBezTo>
                  <a:close/>
                </a:path>
              </a:pathLst>
            </a:custGeom>
            <a:gradFill rotWithShape="true">
              <a:gsLst>
                <a:gs pos="0">
                  <a:srgbClr val="3D607D">
                    <a:alpha val="100000"/>
                  </a:srgbClr>
                </a:gs>
                <a:gs pos="20000">
                  <a:srgbClr val="3D607D">
                    <a:alpha val="100000"/>
                  </a:srgbClr>
                </a:gs>
                <a:gs pos="40000">
                  <a:srgbClr val="263744">
                    <a:alpha val="100000"/>
                  </a:srgbClr>
                </a:gs>
                <a:gs pos="60000">
                  <a:srgbClr val="263744">
                    <a:alpha val="100000"/>
                  </a:srgbClr>
                </a:gs>
                <a:gs pos="80000">
                  <a:srgbClr val="3D607D">
                    <a:alpha val="100000"/>
                  </a:srgbClr>
                </a:gs>
                <a:gs pos="100000">
                  <a:srgbClr val="3D607D">
                    <a:alpha val="100000"/>
                  </a:srgbClr>
                </a:gs>
              </a:gsLst>
              <a:lin ang="2700000"/>
            </a:gradFill>
          </p:spPr>
        </p:sp>
        <p:sp>
          <p:nvSpPr>
            <p:cNvPr name="TextBox 9" id="9"/>
            <p:cNvSpPr txBox="true"/>
            <p:nvPr/>
          </p:nvSpPr>
          <p:spPr>
            <a:xfrm>
              <a:off x="0" y="-38100"/>
              <a:ext cx="2524808" cy="6726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62720" y="1250743"/>
            <a:ext cx="4832283" cy="3061513"/>
            <a:chOff x="0" y="0"/>
            <a:chExt cx="6443045" cy="4082018"/>
          </a:xfrm>
        </p:grpSpPr>
        <p:grpSp>
          <p:nvGrpSpPr>
            <p:cNvPr name="Group 11" id="11"/>
            <p:cNvGrpSpPr/>
            <p:nvPr/>
          </p:nvGrpSpPr>
          <p:grpSpPr>
            <a:xfrm rot="0">
              <a:off x="0" y="0"/>
              <a:ext cx="6443045" cy="4082018"/>
              <a:chOff x="0" y="0"/>
              <a:chExt cx="1384316" cy="877039"/>
            </a:xfrm>
          </p:grpSpPr>
          <p:sp>
            <p:nvSpPr>
              <p:cNvPr name="Freeform 12" id="12"/>
              <p:cNvSpPr/>
              <p:nvPr/>
            </p:nvSpPr>
            <p:spPr>
              <a:xfrm flipH="false" flipV="false" rot="0">
                <a:off x="0" y="0"/>
                <a:ext cx="1384316" cy="877039"/>
              </a:xfrm>
              <a:custGeom>
                <a:avLst/>
                <a:gdLst/>
                <a:ahLst/>
                <a:cxnLst/>
                <a:rect r="r" b="b" t="t" l="l"/>
                <a:pathLst>
                  <a:path h="877039" w="1384316">
                    <a:moveTo>
                      <a:pt x="48064" y="0"/>
                    </a:moveTo>
                    <a:lnTo>
                      <a:pt x="1336252" y="0"/>
                    </a:lnTo>
                    <a:cubicBezTo>
                      <a:pt x="1362797" y="0"/>
                      <a:pt x="1384316" y="21519"/>
                      <a:pt x="1384316" y="48064"/>
                    </a:cubicBezTo>
                    <a:lnTo>
                      <a:pt x="1384316" y="828975"/>
                    </a:lnTo>
                    <a:cubicBezTo>
                      <a:pt x="1384316" y="841722"/>
                      <a:pt x="1379252" y="853948"/>
                      <a:pt x="1370238" y="862961"/>
                    </a:cubicBezTo>
                    <a:cubicBezTo>
                      <a:pt x="1361224" y="871975"/>
                      <a:pt x="1348999" y="877039"/>
                      <a:pt x="1336252" y="877039"/>
                    </a:cubicBezTo>
                    <a:lnTo>
                      <a:pt x="48064" y="877039"/>
                    </a:lnTo>
                    <a:cubicBezTo>
                      <a:pt x="35316" y="877039"/>
                      <a:pt x="23091" y="871975"/>
                      <a:pt x="14078" y="862961"/>
                    </a:cubicBezTo>
                    <a:cubicBezTo>
                      <a:pt x="5064" y="853948"/>
                      <a:pt x="0" y="841722"/>
                      <a:pt x="0" y="828975"/>
                    </a:cubicBezTo>
                    <a:lnTo>
                      <a:pt x="0" y="48064"/>
                    </a:lnTo>
                    <a:cubicBezTo>
                      <a:pt x="0" y="35316"/>
                      <a:pt x="5064" y="23091"/>
                      <a:pt x="14078" y="14078"/>
                    </a:cubicBezTo>
                    <a:cubicBezTo>
                      <a:pt x="23091" y="5064"/>
                      <a:pt x="35316" y="0"/>
                      <a:pt x="48064" y="0"/>
                    </a:cubicBezTo>
                    <a:close/>
                  </a:path>
                </a:pathLst>
              </a:custGeom>
              <a:solidFill>
                <a:srgbClr val="6489A8"/>
              </a:solidFill>
            </p:spPr>
          </p:sp>
          <p:sp>
            <p:nvSpPr>
              <p:cNvPr name="TextBox 13" id="13"/>
              <p:cNvSpPr txBox="true"/>
              <p:nvPr/>
            </p:nvSpPr>
            <p:spPr>
              <a:xfrm>
                <a:off x="0" y="-38100"/>
                <a:ext cx="1384316" cy="915139"/>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001485" y="975267"/>
              <a:ext cx="4199507" cy="566208"/>
            </a:xfrm>
            <a:prstGeom prst="rect">
              <a:avLst/>
            </a:prstGeom>
          </p:spPr>
          <p:txBody>
            <a:bodyPr anchor="t" rtlCol="false" tIns="0" lIns="0" bIns="0" rIns="0">
              <a:spAutoFit/>
            </a:bodyPr>
            <a:lstStyle/>
            <a:p>
              <a:pPr algn="ctr">
                <a:lnSpc>
                  <a:spcPts val="3499"/>
                </a:lnSpc>
              </a:pPr>
              <a:r>
                <a:rPr lang="en-US" sz="2499" b="true">
                  <a:solidFill>
                    <a:srgbClr val="FFFFFF"/>
                  </a:solidFill>
                  <a:latin typeface="Poppins Semi-Bold"/>
                  <a:ea typeface="Poppins Semi-Bold"/>
                  <a:cs typeface="Poppins Semi-Bold"/>
                  <a:sym typeface="Poppins Semi-Bold"/>
                </a:rPr>
                <a:t>Balance Tracking</a:t>
              </a:r>
            </a:p>
          </p:txBody>
        </p:sp>
        <p:sp>
          <p:nvSpPr>
            <p:cNvPr name="TextBox 15" id="15"/>
            <p:cNvSpPr txBox="true"/>
            <p:nvPr/>
          </p:nvSpPr>
          <p:spPr>
            <a:xfrm rot="0">
              <a:off x="524182" y="1974334"/>
              <a:ext cx="5394681" cy="1408642"/>
            </a:xfrm>
            <a:prstGeom prst="rect">
              <a:avLst/>
            </a:prstGeom>
          </p:spPr>
          <p:txBody>
            <a:bodyPr anchor="t" rtlCol="false" tIns="0" lIns="0" bIns="0" rIns="0">
              <a:spAutoFit/>
            </a:bodyPr>
            <a:lstStyle/>
            <a:p>
              <a:pPr algn="ctr">
                <a:lnSpc>
                  <a:spcPts val="2800"/>
                </a:lnSpc>
              </a:pPr>
              <a:r>
                <a:rPr lang="en-US" sz="2000">
                  <a:solidFill>
                    <a:srgbClr val="FFFFFF"/>
                  </a:solidFill>
                  <a:latin typeface="Poppins"/>
                  <a:ea typeface="Poppins"/>
                  <a:cs typeface="Poppins"/>
                  <a:sym typeface="Poppins"/>
                </a:rPr>
                <a:t>Bank account like system that keeps track of how much money they have</a:t>
              </a:r>
            </a:p>
          </p:txBody>
        </p:sp>
      </p:grpSp>
      <p:grpSp>
        <p:nvGrpSpPr>
          <p:cNvPr name="Group 16" id="16"/>
          <p:cNvGrpSpPr/>
          <p:nvPr/>
        </p:nvGrpSpPr>
        <p:grpSpPr>
          <a:xfrm rot="0">
            <a:off x="3114486" y="5254877"/>
            <a:ext cx="4831163" cy="3060803"/>
            <a:chOff x="0" y="0"/>
            <a:chExt cx="6441550" cy="4081071"/>
          </a:xfrm>
        </p:grpSpPr>
        <p:grpSp>
          <p:nvGrpSpPr>
            <p:cNvPr name="Group 17" id="17"/>
            <p:cNvGrpSpPr/>
            <p:nvPr/>
          </p:nvGrpSpPr>
          <p:grpSpPr>
            <a:xfrm rot="0">
              <a:off x="0" y="0"/>
              <a:ext cx="6441550" cy="4081071"/>
              <a:chOff x="0" y="0"/>
              <a:chExt cx="1384316" cy="877039"/>
            </a:xfrm>
          </p:grpSpPr>
          <p:sp>
            <p:nvSpPr>
              <p:cNvPr name="Freeform 18" id="18"/>
              <p:cNvSpPr/>
              <p:nvPr/>
            </p:nvSpPr>
            <p:spPr>
              <a:xfrm flipH="false" flipV="false" rot="0">
                <a:off x="0" y="0"/>
                <a:ext cx="1384316" cy="877039"/>
              </a:xfrm>
              <a:custGeom>
                <a:avLst/>
                <a:gdLst/>
                <a:ahLst/>
                <a:cxnLst/>
                <a:rect r="r" b="b" t="t" l="l"/>
                <a:pathLst>
                  <a:path h="877039" w="1384316">
                    <a:moveTo>
                      <a:pt x="48064" y="0"/>
                    </a:moveTo>
                    <a:lnTo>
                      <a:pt x="1336252" y="0"/>
                    </a:lnTo>
                    <a:cubicBezTo>
                      <a:pt x="1362797" y="0"/>
                      <a:pt x="1384316" y="21519"/>
                      <a:pt x="1384316" y="48064"/>
                    </a:cubicBezTo>
                    <a:lnTo>
                      <a:pt x="1384316" y="828975"/>
                    </a:lnTo>
                    <a:cubicBezTo>
                      <a:pt x="1384316" y="841722"/>
                      <a:pt x="1379252" y="853948"/>
                      <a:pt x="1370238" y="862961"/>
                    </a:cubicBezTo>
                    <a:cubicBezTo>
                      <a:pt x="1361224" y="871975"/>
                      <a:pt x="1348999" y="877039"/>
                      <a:pt x="1336252" y="877039"/>
                    </a:cubicBezTo>
                    <a:lnTo>
                      <a:pt x="48064" y="877039"/>
                    </a:lnTo>
                    <a:cubicBezTo>
                      <a:pt x="35316" y="877039"/>
                      <a:pt x="23091" y="871975"/>
                      <a:pt x="14078" y="862961"/>
                    </a:cubicBezTo>
                    <a:cubicBezTo>
                      <a:pt x="5064" y="853948"/>
                      <a:pt x="0" y="841722"/>
                      <a:pt x="0" y="828975"/>
                    </a:cubicBezTo>
                    <a:lnTo>
                      <a:pt x="0" y="48064"/>
                    </a:lnTo>
                    <a:cubicBezTo>
                      <a:pt x="0" y="35316"/>
                      <a:pt x="5064" y="23091"/>
                      <a:pt x="14078" y="14078"/>
                    </a:cubicBezTo>
                    <a:cubicBezTo>
                      <a:pt x="23091" y="5064"/>
                      <a:pt x="35316" y="0"/>
                      <a:pt x="48064" y="0"/>
                    </a:cubicBezTo>
                    <a:close/>
                  </a:path>
                </a:pathLst>
              </a:custGeom>
              <a:solidFill>
                <a:srgbClr val="6489A8"/>
              </a:solidFill>
            </p:spPr>
          </p:sp>
          <p:sp>
            <p:nvSpPr>
              <p:cNvPr name="TextBox 19" id="19"/>
              <p:cNvSpPr txBox="true"/>
              <p:nvPr/>
            </p:nvSpPr>
            <p:spPr>
              <a:xfrm>
                <a:off x="0" y="-38100"/>
                <a:ext cx="1384316" cy="91513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459280" y="975972"/>
              <a:ext cx="5522991" cy="566093"/>
            </a:xfrm>
            <a:prstGeom prst="rect">
              <a:avLst/>
            </a:prstGeom>
          </p:spPr>
          <p:txBody>
            <a:bodyPr anchor="t" rtlCol="false" tIns="0" lIns="0" bIns="0" rIns="0">
              <a:spAutoFit/>
            </a:bodyPr>
            <a:lstStyle/>
            <a:p>
              <a:pPr algn="ctr">
                <a:lnSpc>
                  <a:spcPts val="3499"/>
                </a:lnSpc>
              </a:pPr>
              <a:r>
                <a:rPr lang="en-US" sz="2499" b="true">
                  <a:solidFill>
                    <a:srgbClr val="FFFFFF"/>
                  </a:solidFill>
                  <a:latin typeface="Poppins Semi-Bold"/>
                  <a:ea typeface="Poppins Semi-Bold"/>
                  <a:cs typeface="Poppins Semi-Bold"/>
                  <a:sym typeface="Poppins Semi-Bold"/>
                </a:rPr>
                <a:t>Addition and Deduction</a:t>
              </a:r>
            </a:p>
          </p:txBody>
        </p:sp>
        <p:sp>
          <p:nvSpPr>
            <p:cNvPr name="TextBox 21" id="21"/>
            <p:cNvSpPr txBox="true"/>
            <p:nvPr/>
          </p:nvSpPr>
          <p:spPr>
            <a:xfrm rot="0">
              <a:off x="459280" y="2127355"/>
              <a:ext cx="5731222" cy="1398805"/>
            </a:xfrm>
            <a:prstGeom prst="rect">
              <a:avLst/>
            </a:prstGeom>
          </p:spPr>
          <p:txBody>
            <a:bodyPr anchor="t" rtlCol="false" tIns="0" lIns="0" bIns="0" rIns="0">
              <a:spAutoFit/>
            </a:bodyPr>
            <a:lstStyle/>
            <a:p>
              <a:pPr algn="ctr">
                <a:lnSpc>
                  <a:spcPts val="2799"/>
                </a:lnSpc>
              </a:pPr>
              <a:r>
                <a:rPr lang="en-US" sz="1999">
                  <a:solidFill>
                    <a:srgbClr val="FFFFFF"/>
                  </a:solidFill>
                  <a:latin typeface="Poppins"/>
                  <a:ea typeface="Poppins"/>
                  <a:cs typeface="Poppins"/>
                  <a:sym typeface="Poppins"/>
                </a:rPr>
                <a:t>Allows to add and deduct money from your balance simulating expenses and getting money</a:t>
              </a:r>
            </a:p>
          </p:txBody>
        </p:sp>
      </p:grpSp>
      <p:grpSp>
        <p:nvGrpSpPr>
          <p:cNvPr name="Group 22" id="22"/>
          <p:cNvGrpSpPr/>
          <p:nvPr/>
        </p:nvGrpSpPr>
        <p:grpSpPr>
          <a:xfrm rot="0">
            <a:off x="9940247" y="5143500"/>
            <a:ext cx="4832283" cy="3499663"/>
            <a:chOff x="0" y="0"/>
            <a:chExt cx="6443045" cy="4666218"/>
          </a:xfrm>
        </p:grpSpPr>
        <p:grpSp>
          <p:nvGrpSpPr>
            <p:cNvPr name="Group 23" id="23"/>
            <p:cNvGrpSpPr/>
            <p:nvPr/>
          </p:nvGrpSpPr>
          <p:grpSpPr>
            <a:xfrm rot="0">
              <a:off x="0" y="0"/>
              <a:ext cx="6443045" cy="4666218"/>
              <a:chOff x="0" y="0"/>
              <a:chExt cx="1384316" cy="1002557"/>
            </a:xfrm>
          </p:grpSpPr>
          <p:sp>
            <p:nvSpPr>
              <p:cNvPr name="Freeform 24" id="24"/>
              <p:cNvSpPr/>
              <p:nvPr/>
            </p:nvSpPr>
            <p:spPr>
              <a:xfrm flipH="false" flipV="false" rot="0">
                <a:off x="0" y="0"/>
                <a:ext cx="1384316" cy="1002557"/>
              </a:xfrm>
              <a:custGeom>
                <a:avLst/>
                <a:gdLst/>
                <a:ahLst/>
                <a:cxnLst/>
                <a:rect r="r" b="b" t="t" l="l"/>
                <a:pathLst>
                  <a:path h="1002557" w="1384316">
                    <a:moveTo>
                      <a:pt x="48064" y="0"/>
                    </a:moveTo>
                    <a:lnTo>
                      <a:pt x="1336252" y="0"/>
                    </a:lnTo>
                    <a:cubicBezTo>
                      <a:pt x="1362797" y="0"/>
                      <a:pt x="1384316" y="21519"/>
                      <a:pt x="1384316" y="48064"/>
                    </a:cubicBezTo>
                    <a:lnTo>
                      <a:pt x="1384316" y="954493"/>
                    </a:lnTo>
                    <a:cubicBezTo>
                      <a:pt x="1384316" y="981038"/>
                      <a:pt x="1362797" y="1002557"/>
                      <a:pt x="1336252" y="1002557"/>
                    </a:cubicBezTo>
                    <a:lnTo>
                      <a:pt x="48064" y="1002557"/>
                    </a:lnTo>
                    <a:cubicBezTo>
                      <a:pt x="35316" y="1002557"/>
                      <a:pt x="23091" y="997493"/>
                      <a:pt x="14078" y="988479"/>
                    </a:cubicBezTo>
                    <a:cubicBezTo>
                      <a:pt x="5064" y="979466"/>
                      <a:pt x="0" y="967240"/>
                      <a:pt x="0" y="954493"/>
                    </a:cubicBezTo>
                    <a:lnTo>
                      <a:pt x="0" y="48064"/>
                    </a:lnTo>
                    <a:cubicBezTo>
                      <a:pt x="0" y="35316"/>
                      <a:pt x="5064" y="23091"/>
                      <a:pt x="14078" y="14078"/>
                    </a:cubicBezTo>
                    <a:cubicBezTo>
                      <a:pt x="23091" y="5064"/>
                      <a:pt x="35316" y="0"/>
                      <a:pt x="48064" y="0"/>
                    </a:cubicBezTo>
                    <a:close/>
                  </a:path>
                </a:pathLst>
              </a:custGeom>
              <a:solidFill>
                <a:srgbClr val="6489A8"/>
              </a:solidFill>
            </p:spPr>
          </p:sp>
          <p:sp>
            <p:nvSpPr>
              <p:cNvPr name="TextBox 25" id="25"/>
              <p:cNvSpPr txBox="true"/>
              <p:nvPr/>
            </p:nvSpPr>
            <p:spPr>
              <a:xfrm>
                <a:off x="0" y="-38100"/>
                <a:ext cx="1384316" cy="1040657"/>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21995" y="786908"/>
              <a:ext cx="4992090" cy="1150408"/>
            </a:xfrm>
            <a:prstGeom prst="rect">
              <a:avLst/>
            </a:prstGeom>
          </p:spPr>
          <p:txBody>
            <a:bodyPr anchor="t" rtlCol="false" tIns="0" lIns="0" bIns="0" rIns="0">
              <a:spAutoFit/>
            </a:bodyPr>
            <a:lstStyle/>
            <a:p>
              <a:pPr algn="ctr">
                <a:lnSpc>
                  <a:spcPts val="3499"/>
                </a:lnSpc>
              </a:pPr>
              <a:r>
                <a:rPr lang="en-US" sz="2499" b="true">
                  <a:solidFill>
                    <a:srgbClr val="FFFFFF"/>
                  </a:solidFill>
                  <a:latin typeface="Poppins Semi-Bold"/>
                  <a:ea typeface="Poppins Semi-Bold"/>
                  <a:cs typeface="Poppins Semi-Bold"/>
                  <a:sym typeface="Poppins Semi-Bold"/>
                </a:rPr>
                <a:t>Financial Classification Services</a:t>
              </a:r>
            </a:p>
          </p:txBody>
        </p:sp>
        <p:sp>
          <p:nvSpPr>
            <p:cNvPr name="TextBox 27" id="27"/>
            <p:cNvSpPr txBox="true"/>
            <p:nvPr/>
          </p:nvSpPr>
          <p:spPr>
            <a:xfrm rot="0">
              <a:off x="520700" y="2701590"/>
              <a:ext cx="5394681" cy="1408642"/>
            </a:xfrm>
            <a:prstGeom prst="rect">
              <a:avLst/>
            </a:prstGeom>
          </p:spPr>
          <p:txBody>
            <a:bodyPr anchor="t" rtlCol="false" tIns="0" lIns="0" bIns="0" rIns="0">
              <a:spAutoFit/>
            </a:bodyPr>
            <a:lstStyle/>
            <a:p>
              <a:pPr algn="ctr">
                <a:lnSpc>
                  <a:spcPts val="2800"/>
                </a:lnSpc>
              </a:pPr>
              <a:r>
                <a:rPr lang="en-US" sz="2000">
                  <a:solidFill>
                    <a:srgbClr val="FFFFFF"/>
                  </a:solidFill>
                  <a:latin typeface="Poppins"/>
                  <a:ea typeface="Poppins"/>
                  <a:cs typeface="Poppins"/>
                  <a:sym typeface="Poppins"/>
                </a:rPr>
                <a:t>Allows the user to classify their expenses into designated classes</a:t>
              </a:r>
            </a:p>
          </p:txBody>
        </p:sp>
      </p:grpSp>
      <p:grpSp>
        <p:nvGrpSpPr>
          <p:cNvPr name="Group 28" id="28"/>
          <p:cNvGrpSpPr/>
          <p:nvPr/>
        </p:nvGrpSpPr>
        <p:grpSpPr>
          <a:xfrm rot="0">
            <a:off x="13088423" y="1426956"/>
            <a:ext cx="4832283" cy="2709088"/>
            <a:chOff x="0" y="0"/>
            <a:chExt cx="6443045" cy="3612118"/>
          </a:xfrm>
        </p:grpSpPr>
        <p:grpSp>
          <p:nvGrpSpPr>
            <p:cNvPr name="Group 29" id="29"/>
            <p:cNvGrpSpPr/>
            <p:nvPr/>
          </p:nvGrpSpPr>
          <p:grpSpPr>
            <a:xfrm rot="0">
              <a:off x="0" y="0"/>
              <a:ext cx="6443045" cy="3612118"/>
              <a:chOff x="0" y="0"/>
              <a:chExt cx="1384316" cy="776079"/>
            </a:xfrm>
          </p:grpSpPr>
          <p:sp>
            <p:nvSpPr>
              <p:cNvPr name="Freeform 30" id="30"/>
              <p:cNvSpPr/>
              <p:nvPr/>
            </p:nvSpPr>
            <p:spPr>
              <a:xfrm flipH="false" flipV="false" rot="0">
                <a:off x="0" y="0"/>
                <a:ext cx="1384316" cy="776079"/>
              </a:xfrm>
              <a:custGeom>
                <a:avLst/>
                <a:gdLst/>
                <a:ahLst/>
                <a:cxnLst/>
                <a:rect r="r" b="b" t="t" l="l"/>
                <a:pathLst>
                  <a:path h="776079" w="1384316">
                    <a:moveTo>
                      <a:pt x="48064" y="0"/>
                    </a:moveTo>
                    <a:lnTo>
                      <a:pt x="1336252" y="0"/>
                    </a:lnTo>
                    <a:cubicBezTo>
                      <a:pt x="1362797" y="0"/>
                      <a:pt x="1384316" y="21519"/>
                      <a:pt x="1384316" y="48064"/>
                    </a:cubicBezTo>
                    <a:lnTo>
                      <a:pt x="1384316" y="728015"/>
                    </a:lnTo>
                    <a:cubicBezTo>
                      <a:pt x="1384316" y="740762"/>
                      <a:pt x="1379252" y="752988"/>
                      <a:pt x="1370238" y="762001"/>
                    </a:cubicBezTo>
                    <a:cubicBezTo>
                      <a:pt x="1361224" y="771015"/>
                      <a:pt x="1348999" y="776079"/>
                      <a:pt x="1336252" y="776079"/>
                    </a:cubicBezTo>
                    <a:lnTo>
                      <a:pt x="48064" y="776079"/>
                    </a:lnTo>
                    <a:cubicBezTo>
                      <a:pt x="21519" y="776079"/>
                      <a:pt x="0" y="754560"/>
                      <a:pt x="0" y="728015"/>
                    </a:cubicBezTo>
                    <a:lnTo>
                      <a:pt x="0" y="48064"/>
                    </a:lnTo>
                    <a:cubicBezTo>
                      <a:pt x="0" y="35316"/>
                      <a:pt x="5064" y="23091"/>
                      <a:pt x="14078" y="14078"/>
                    </a:cubicBezTo>
                    <a:cubicBezTo>
                      <a:pt x="23091" y="5064"/>
                      <a:pt x="35316" y="0"/>
                      <a:pt x="48064" y="0"/>
                    </a:cubicBezTo>
                    <a:close/>
                  </a:path>
                </a:pathLst>
              </a:custGeom>
              <a:solidFill>
                <a:srgbClr val="6489A8"/>
              </a:solidFill>
            </p:spPr>
          </p:sp>
          <p:sp>
            <p:nvSpPr>
              <p:cNvPr name="TextBox 31" id="31"/>
              <p:cNvSpPr txBox="true"/>
              <p:nvPr/>
            </p:nvSpPr>
            <p:spPr>
              <a:xfrm>
                <a:off x="0" y="-38100"/>
                <a:ext cx="1384316" cy="814179"/>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1001485" y="975267"/>
              <a:ext cx="4199507" cy="566208"/>
            </a:xfrm>
            <a:prstGeom prst="rect">
              <a:avLst/>
            </a:prstGeom>
          </p:spPr>
          <p:txBody>
            <a:bodyPr anchor="t" rtlCol="false" tIns="0" lIns="0" bIns="0" rIns="0">
              <a:spAutoFit/>
            </a:bodyPr>
            <a:lstStyle/>
            <a:p>
              <a:pPr algn="ctr">
                <a:lnSpc>
                  <a:spcPts val="3499"/>
                </a:lnSpc>
              </a:pPr>
              <a:r>
                <a:rPr lang="en-US" sz="2499" b="true">
                  <a:solidFill>
                    <a:srgbClr val="FFFFFF"/>
                  </a:solidFill>
                  <a:latin typeface="Poppins Semi-Bold"/>
                  <a:ea typeface="Poppins Semi-Bold"/>
                  <a:cs typeface="Poppins Semi-Bold"/>
                  <a:sym typeface="Poppins Semi-Bold"/>
                </a:rPr>
                <a:t>Menu</a:t>
              </a:r>
            </a:p>
          </p:txBody>
        </p:sp>
        <p:sp>
          <p:nvSpPr>
            <p:cNvPr name="TextBox 33" id="33"/>
            <p:cNvSpPr txBox="true"/>
            <p:nvPr/>
          </p:nvSpPr>
          <p:spPr>
            <a:xfrm rot="0">
              <a:off x="524182" y="1974334"/>
              <a:ext cx="5394681" cy="938742"/>
            </a:xfrm>
            <a:prstGeom prst="rect">
              <a:avLst/>
            </a:prstGeom>
          </p:spPr>
          <p:txBody>
            <a:bodyPr anchor="t" rtlCol="false" tIns="0" lIns="0" bIns="0" rIns="0">
              <a:spAutoFit/>
            </a:bodyPr>
            <a:lstStyle/>
            <a:p>
              <a:pPr algn="ctr">
                <a:lnSpc>
                  <a:spcPts val="2800"/>
                </a:lnSpc>
              </a:pPr>
              <a:r>
                <a:rPr lang="en-US" sz="2000">
                  <a:solidFill>
                    <a:srgbClr val="FFFFFF"/>
                  </a:solidFill>
                  <a:latin typeface="Poppins"/>
                  <a:ea typeface="Poppins"/>
                  <a:cs typeface="Poppins"/>
                  <a:sym typeface="Poppins"/>
                </a:rPr>
                <a:t>Easy to use menu interface for fast usage</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bg>
      <p:bgPr>
        <a:solidFill>
          <a:srgbClr val="263744"/>
        </a:solidFill>
      </p:bgPr>
    </p:bg>
    <p:spTree>
      <p:nvGrpSpPr>
        <p:cNvPr id="1" name=""/>
        <p:cNvGrpSpPr/>
        <p:nvPr/>
      </p:nvGrpSpPr>
      <p:grpSpPr>
        <a:xfrm>
          <a:off x="0" y="0"/>
          <a:ext cx="0" cy="0"/>
          <a:chOff x="0" y="0"/>
          <a:chExt cx="0" cy="0"/>
        </a:xfrm>
      </p:grpSpPr>
      <p:sp>
        <p:nvSpPr>
          <p:cNvPr name="TextBox 2" id="2"/>
          <p:cNvSpPr txBox="true"/>
          <p:nvPr/>
        </p:nvSpPr>
        <p:spPr>
          <a:xfrm rot="0">
            <a:off x="1839198" y="1645607"/>
            <a:ext cx="7433516" cy="1679575"/>
          </a:xfrm>
          <a:prstGeom prst="rect">
            <a:avLst/>
          </a:prstGeom>
        </p:spPr>
        <p:txBody>
          <a:bodyPr anchor="t" rtlCol="false" tIns="0" lIns="0" bIns="0" rIns="0">
            <a:spAutoFit/>
          </a:bodyPr>
          <a:lstStyle/>
          <a:p>
            <a:pPr algn="l">
              <a:lnSpc>
                <a:spcPts val="6499"/>
              </a:lnSpc>
            </a:pPr>
            <a:r>
              <a:rPr lang="en-US" sz="6499" b="true">
                <a:solidFill>
                  <a:srgbClr val="FFFFFF"/>
                </a:solidFill>
                <a:latin typeface="Inter Bold"/>
                <a:ea typeface="Inter Bold"/>
                <a:cs typeface="Inter Bold"/>
                <a:sym typeface="Inter Bold"/>
              </a:rPr>
              <a:t>PLANNED INPUTS AND OUTPUTS</a:t>
            </a:r>
          </a:p>
        </p:txBody>
      </p:sp>
      <p:sp>
        <p:nvSpPr>
          <p:cNvPr name="TextBox 3" id="3"/>
          <p:cNvSpPr txBox="true"/>
          <p:nvPr/>
        </p:nvSpPr>
        <p:spPr>
          <a:xfrm rot="0">
            <a:off x="1839198" y="3616487"/>
            <a:ext cx="6703292" cy="4244975"/>
          </a:xfrm>
          <a:prstGeom prst="rect">
            <a:avLst/>
          </a:prstGeom>
        </p:spPr>
        <p:txBody>
          <a:bodyPr anchor="t" rtlCol="false" tIns="0" lIns="0" bIns="0" rIns="0">
            <a:spAutoFit/>
          </a:bodyPr>
          <a:lstStyle/>
          <a:p>
            <a:pPr algn="l">
              <a:lnSpc>
                <a:spcPts val="2800"/>
              </a:lnSpc>
            </a:pPr>
            <a:r>
              <a:rPr lang="en-US" sz="2000">
                <a:solidFill>
                  <a:srgbClr val="FFFFFF"/>
                </a:solidFill>
                <a:latin typeface="Poppins"/>
                <a:ea typeface="Poppins"/>
                <a:cs typeface="Poppins"/>
                <a:sym typeface="Poppins"/>
              </a:rPr>
              <a:t> The program will ask the user to input their total amount of cash and save it. After that the program will just ask for the expenses and deduct it from the total but the user also has the option to add money. The program will also ask after each transaction if the user wants add, deduct or classify expenses. If the user chooses to classify expenses then a set of options will appear and the user will input what they bought and the program will ask what it is and the user will pick from what the program displays, after the user picks whatever they bought will then be saved into that classification</a:t>
            </a:r>
          </a:p>
        </p:txBody>
      </p:sp>
      <p:grpSp>
        <p:nvGrpSpPr>
          <p:cNvPr name="Group 4" id="4"/>
          <p:cNvGrpSpPr/>
          <p:nvPr/>
        </p:nvGrpSpPr>
        <p:grpSpPr>
          <a:xfrm rot="5400000">
            <a:off x="-1063693" y="7861462"/>
            <a:ext cx="3367739" cy="3062495"/>
            <a:chOff x="0" y="0"/>
            <a:chExt cx="886976" cy="806583"/>
          </a:xfrm>
        </p:grpSpPr>
        <p:sp>
          <p:nvSpPr>
            <p:cNvPr name="Freeform 5" id="5"/>
            <p:cNvSpPr/>
            <p:nvPr/>
          </p:nvSpPr>
          <p:spPr>
            <a:xfrm flipH="false" flipV="false" rot="0">
              <a:off x="0" y="0"/>
              <a:ext cx="886976" cy="806583"/>
            </a:xfrm>
            <a:custGeom>
              <a:avLst/>
              <a:gdLst/>
              <a:ahLst/>
              <a:cxnLst/>
              <a:rect r="r" b="b" t="t" l="l"/>
              <a:pathLst>
                <a:path h="806583" w="886976">
                  <a:moveTo>
                    <a:pt x="117241" y="0"/>
                  </a:moveTo>
                  <a:lnTo>
                    <a:pt x="769735" y="0"/>
                  </a:lnTo>
                  <a:cubicBezTo>
                    <a:pt x="800829" y="0"/>
                    <a:pt x="830650" y="12352"/>
                    <a:pt x="852637" y="34339"/>
                  </a:cubicBezTo>
                  <a:cubicBezTo>
                    <a:pt x="874624" y="56326"/>
                    <a:pt x="886976" y="86147"/>
                    <a:pt x="886976" y="117241"/>
                  </a:cubicBezTo>
                  <a:lnTo>
                    <a:pt x="886976" y="689342"/>
                  </a:lnTo>
                  <a:cubicBezTo>
                    <a:pt x="886976" y="754092"/>
                    <a:pt x="834486" y="806583"/>
                    <a:pt x="769735" y="806583"/>
                  </a:cubicBezTo>
                  <a:lnTo>
                    <a:pt x="117241" y="806583"/>
                  </a:lnTo>
                  <a:cubicBezTo>
                    <a:pt x="52491" y="806583"/>
                    <a:pt x="0" y="754092"/>
                    <a:pt x="0" y="689342"/>
                  </a:cubicBezTo>
                  <a:lnTo>
                    <a:pt x="0" y="117241"/>
                  </a:lnTo>
                  <a:cubicBezTo>
                    <a:pt x="0" y="52491"/>
                    <a:pt x="52491" y="0"/>
                    <a:pt x="117241" y="0"/>
                  </a:cubicBezTo>
                  <a:close/>
                </a:path>
              </a:pathLst>
            </a:custGeom>
            <a:gradFill rotWithShape="true">
              <a:gsLst>
                <a:gs pos="0">
                  <a:srgbClr val="3D607D">
                    <a:alpha val="100000"/>
                  </a:srgbClr>
                </a:gs>
                <a:gs pos="20000">
                  <a:srgbClr val="3D607D">
                    <a:alpha val="100000"/>
                  </a:srgbClr>
                </a:gs>
                <a:gs pos="40000">
                  <a:srgbClr val="263744">
                    <a:alpha val="100000"/>
                  </a:srgbClr>
                </a:gs>
                <a:gs pos="60000">
                  <a:srgbClr val="263744">
                    <a:alpha val="100000"/>
                  </a:srgbClr>
                </a:gs>
                <a:gs pos="80000">
                  <a:srgbClr val="3D607D">
                    <a:alpha val="100000"/>
                  </a:srgbClr>
                </a:gs>
                <a:gs pos="100000">
                  <a:srgbClr val="3D607D">
                    <a:alpha val="100000"/>
                  </a:srgbClr>
                </a:gs>
              </a:gsLst>
              <a:lin ang="2700000"/>
            </a:gradFill>
          </p:spPr>
        </p:sp>
        <p:sp>
          <p:nvSpPr>
            <p:cNvPr name="TextBox 6" id="6"/>
            <p:cNvSpPr txBox="true"/>
            <p:nvPr/>
          </p:nvSpPr>
          <p:spPr>
            <a:xfrm>
              <a:off x="0" y="-38100"/>
              <a:ext cx="886976" cy="84468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942843" y="3196731"/>
            <a:ext cx="3051719" cy="4664731"/>
            <a:chOff x="0" y="0"/>
            <a:chExt cx="803745" cy="1228571"/>
          </a:xfrm>
        </p:grpSpPr>
        <p:sp>
          <p:nvSpPr>
            <p:cNvPr name="Freeform 8" id="8"/>
            <p:cNvSpPr/>
            <p:nvPr/>
          </p:nvSpPr>
          <p:spPr>
            <a:xfrm flipH="false" flipV="false" rot="0">
              <a:off x="0" y="0"/>
              <a:ext cx="803745" cy="1228571"/>
            </a:xfrm>
            <a:custGeom>
              <a:avLst/>
              <a:gdLst/>
              <a:ahLst/>
              <a:cxnLst/>
              <a:rect r="r" b="b" t="t" l="l"/>
              <a:pathLst>
                <a:path h="1228571" w="803745">
                  <a:moveTo>
                    <a:pt x="129382" y="0"/>
                  </a:moveTo>
                  <a:lnTo>
                    <a:pt x="674363" y="0"/>
                  </a:lnTo>
                  <a:cubicBezTo>
                    <a:pt x="745819" y="0"/>
                    <a:pt x="803745" y="57926"/>
                    <a:pt x="803745" y="129382"/>
                  </a:cubicBezTo>
                  <a:lnTo>
                    <a:pt x="803745" y="1099189"/>
                  </a:lnTo>
                  <a:cubicBezTo>
                    <a:pt x="803745" y="1170645"/>
                    <a:pt x="745819" y="1228571"/>
                    <a:pt x="674363" y="1228571"/>
                  </a:cubicBezTo>
                  <a:lnTo>
                    <a:pt x="129382" y="1228571"/>
                  </a:lnTo>
                  <a:cubicBezTo>
                    <a:pt x="57926" y="1228571"/>
                    <a:pt x="0" y="1170645"/>
                    <a:pt x="0" y="1099189"/>
                  </a:cubicBezTo>
                  <a:lnTo>
                    <a:pt x="0" y="129382"/>
                  </a:lnTo>
                  <a:cubicBezTo>
                    <a:pt x="0" y="57926"/>
                    <a:pt x="57926" y="0"/>
                    <a:pt x="129382" y="0"/>
                  </a:cubicBezTo>
                  <a:close/>
                </a:path>
              </a:pathLst>
            </a:custGeom>
            <a:gradFill rotWithShape="true">
              <a:gsLst>
                <a:gs pos="0">
                  <a:srgbClr val="3D607D">
                    <a:alpha val="100000"/>
                  </a:srgbClr>
                </a:gs>
                <a:gs pos="20000">
                  <a:srgbClr val="3D607D">
                    <a:alpha val="100000"/>
                  </a:srgbClr>
                </a:gs>
                <a:gs pos="40000">
                  <a:srgbClr val="263744">
                    <a:alpha val="100000"/>
                  </a:srgbClr>
                </a:gs>
                <a:gs pos="60000">
                  <a:srgbClr val="263744">
                    <a:alpha val="100000"/>
                  </a:srgbClr>
                </a:gs>
                <a:gs pos="80000">
                  <a:srgbClr val="3D607D">
                    <a:alpha val="100000"/>
                  </a:srgbClr>
                </a:gs>
                <a:gs pos="100000">
                  <a:srgbClr val="3D607D">
                    <a:alpha val="100000"/>
                  </a:srgbClr>
                </a:gs>
              </a:gsLst>
              <a:lin ang="2700000"/>
            </a:gradFill>
          </p:spPr>
        </p:sp>
        <p:sp>
          <p:nvSpPr>
            <p:cNvPr name="TextBox 9" id="9"/>
            <p:cNvSpPr txBox="true"/>
            <p:nvPr/>
          </p:nvSpPr>
          <p:spPr>
            <a:xfrm>
              <a:off x="0" y="-38100"/>
              <a:ext cx="803745" cy="1266671"/>
            </a:xfrm>
            <a:prstGeom prst="rect">
              <a:avLst/>
            </a:prstGeom>
          </p:spPr>
          <p:txBody>
            <a:bodyPr anchor="ctr" rtlCol="false" tIns="50800" lIns="50800" bIns="50800" rIns="50800"/>
            <a:lstStyle/>
            <a:p>
              <a:pPr algn="ctr">
                <a:lnSpc>
                  <a:spcPts val="2659"/>
                </a:lnSpc>
              </a:pPr>
            </a:p>
          </p:txBody>
        </p:sp>
      </p:grpSp>
    </p:spTree>
  </p:cSld>
  <p:clrMapOvr>
    <a:masterClrMapping/>
  </p:clrMapOvr>
  <p:transition spd="slow">
    <p:push dir="l"/>
  </p:transition>
</p:sld>
</file>

<file path=ppt/slides/slide5.xml><?xml version="1.0" encoding="utf-8"?>
<p:sld xmlns:p="http://schemas.openxmlformats.org/presentationml/2006/main" xmlns:a="http://schemas.openxmlformats.org/drawingml/2006/main">
  <p:cSld>
    <p:bg>
      <p:bgPr>
        <a:solidFill>
          <a:srgbClr val="263744"/>
        </a:solidFill>
      </p:bgPr>
    </p:bg>
    <p:spTree>
      <p:nvGrpSpPr>
        <p:cNvPr id="1" name=""/>
        <p:cNvGrpSpPr/>
        <p:nvPr/>
      </p:nvGrpSpPr>
      <p:grpSpPr>
        <a:xfrm>
          <a:off x="0" y="0"/>
          <a:ext cx="0" cy="0"/>
          <a:chOff x="0" y="0"/>
          <a:chExt cx="0" cy="0"/>
        </a:xfrm>
      </p:grpSpPr>
      <p:sp>
        <p:nvSpPr>
          <p:cNvPr name="TextBox 2" id="2"/>
          <p:cNvSpPr txBox="true"/>
          <p:nvPr/>
        </p:nvSpPr>
        <p:spPr>
          <a:xfrm rot="0">
            <a:off x="3083694" y="4364248"/>
            <a:ext cx="12120612" cy="1406105"/>
          </a:xfrm>
          <a:prstGeom prst="rect">
            <a:avLst/>
          </a:prstGeom>
        </p:spPr>
        <p:txBody>
          <a:bodyPr anchor="t" rtlCol="false" tIns="0" lIns="0" bIns="0" rIns="0">
            <a:spAutoFit/>
          </a:bodyPr>
          <a:lstStyle/>
          <a:p>
            <a:pPr algn="ctr">
              <a:lnSpc>
                <a:spcPts val="11696"/>
              </a:lnSpc>
              <a:spcBef>
                <a:spcPct val="0"/>
              </a:spcBef>
            </a:pPr>
            <a:r>
              <a:rPr lang="en-US" sz="8354" i="true">
                <a:solidFill>
                  <a:srgbClr val="FFFFFF"/>
                </a:solidFill>
                <a:latin typeface="Canva Sans Italics"/>
                <a:ea typeface="Canva Sans Italics"/>
                <a:cs typeface="Canva Sans Italics"/>
                <a:sym typeface="Canva Sans Italics"/>
              </a:rPr>
              <a:t>Thank You For Listening</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DAG5xG5ihdI</dc:identifier>
  <dcterms:modified xsi:type="dcterms:W3CDTF">2011-08-01T06:04:30Z</dcterms:modified>
  <cp:revision>1</cp:revision>
  <dc:title>SpeedO:EXpense Tracker</dc:title>
</cp:coreProperties>
</file>