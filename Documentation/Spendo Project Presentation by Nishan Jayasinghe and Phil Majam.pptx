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4" r:id="rId8"/>
    <p:sldId id="262" r:id="rId9"/>
  </p:sldIdLst>
  <p:sldSz cx="18288000" cy="10287000"/>
  <p:notesSz cx="6858000" cy="9144000"/>
  <p:embeddedFontLst>
    <p:embeddedFont>
      <p:font typeface="Agrandir Grand" panose="020B0604020202020204" charset="0"/>
      <p:regular r:id="rId10"/>
    </p:embeddedFont>
    <p:embeddedFont>
      <p:font typeface="Poppins" panose="00000500000000000000" pitchFamily="2" charset="0"/>
      <p:regular r:id="rId11"/>
    </p:embeddedFont>
    <p:embeddedFont>
      <p:font typeface="Poppins Bold" panose="020B0604020202020204" charset="0"/>
      <p:regular r:id="rId12"/>
    </p:embeddedFont>
    <p:embeddedFont>
      <p:font typeface="Poppins Italics"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44" autoAdjust="0"/>
    <p:restoredTop sz="94622" autoAdjust="0"/>
  </p:normalViewPr>
  <p:slideViewPr>
    <p:cSldViewPr>
      <p:cViewPr varScale="1">
        <p:scale>
          <a:sx n="79" d="100"/>
          <a:sy n="79" d="100"/>
        </p:scale>
        <p:origin x="468" y="-6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3763181" y="-2174277"/>
            <a:ext cx="6405953" cy="6405953"/>
          </a:xfrm>
          <a:custGeom>
            <a:avLst/>
            <a:gdLst/>
            <a:ahLst/>
            <a:cxnLst/>
            <a:rect l="l" t="t" r="r" b="b"/>
            <a:pathLst>
              <a:path w="6405953" h="6405953">
                <a:moveTo>
                  <a:pt x="0" y="0"/>
                </a:moveTo>
                <a:lnTo>
                  <a:pt x="6405954" y="0"/>
                </a:lnTo>
                <a:lnTo>
                  <a:pt x="6405954" y="6405954"/>
                </a:lnTo>
                <a:lnTo>
                  <a:pt x="0" y="640595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131186" y="6005584"/>
            <a:ext cx="9166551" cy="3028109"/>
            <a:chOff x="0" y="0"/>
            <a:chExt cx="2422961" cy="800409"/>
          </a:xfrm>
        </p:grpSpPr>
        <p:sp>
          <p:nvSpPr>
            <p:cNvPr id="4" name="Freeform 4"/>
            <p:cNvSpPr/>
            <p:nvPr/>
          </p:nvSpPr>
          <p:spPr>
            <a:xfrm>
              <a:off x="0" y="0"/>
              <a:ext cx="2422961" cy="800409"/>
            </a:xfrm>
            <a:custGeom>
              <a:avLst/>
              <a:gdLst/>
              <a:ahLst/>
              <a:cxnLst/>
              <a:rect l="l" t="t" r="r" b="b"/>
              <a:pathLst>
                <a:path w="2422961" h="800409">
                  <a:moveTo>
                    <a:pt x="69256" y="0"/>
                  </a:moveTo>
                  <a:lnTo>
                    <a:pt x="2353705" y="0"/>
                  </a:lnTo>
                  <a:cubicBezTo>
                    <a:pt x="2391954" y="0"/>
                    <a:pt x="2422961" y="31007"/>
                    <a:pt x="2422961" y="69256"/>
                  </a:cubicBezTo>
                  <a:lnTo>
                    <a:pt x="2422961" y="731153"/>
                  </a:lnTo>
                  <a:cubicBezTo>
                    <a:pt x="2422961" y="769402"/>
                    <a:pt x="2391954" y="800409"/>
                    <a:pt x="2353705" y="800409"/>
                  </a:cubicBezTo>
                  <a:lnTo>
                    <a:pt x="69256" y="800409"/>
                  </a:lnTo>
                  <a:cubicBezTo>
                    <a:pt x="31007" y="800409"/>
                    <a:pt x="0" y="769402"/>
                    <a:pt x="0" y="731153"/>
                  </a:cubicBezTo>
                  <a:lnTo>
                    <a:pt x="0" y="69256"/>
                  </a:lnTo>
                  <a:cubicBezTo>
                    <a:pt x="0" y="31007"/>
                    <a:pt x="31007" y="0"/>
                    <a:pt x="69256" y="0"/>
                  </a:cubicBezTo>
                  <a:close/>
                </a:path>
              </a:pathLst>
            </a:custGeom>
            <a:solidFill>
              <a:srgbClr val="FFFFFF">
                <a:alpha val="4706"/>
              </a:srgbClr>
            </a:solidFill>
          </p:spPr>
        </p:sp>
        <p:sp>
          <p:nvSpPr>
            <p:cNvPr id="5" name="TextBox 5"/>
            <p:cNvSpPr txBox="1"/>
            <p:nvPr/>
          </p:nvSpPr>
          <p:spPr>
            <a:xfrm>
              <a:off x="0" y="-171450"/>
              <a:ext cx="2422961" cy="971859"/>
            </a:xfrm>
            <a:prstGeom prst="rect">
              <a:avLst/>
            </a:prstGeom>
          </p:spPr>
          <p:txBody>
            <a:bodyPr lIns="52378" tIns="52378" rIns="52378" bIns="52378" rtlCol="0" anchor="ctr"/>
            <a:lstStyle/>
            <a:p>
              <a:pPr algn="ctr">
                <a:lnSpc>
                  <a:spcPts val="8399"/>
                </a:lnSpc>
                <a:spcBef>
                  <a:spcPct val="0"/>
                </a:spcBef>
              </a:pPr>
              <a:endParaRPr/>
            </a:p>
          </p:txBody>
        </p:sp>
      </p:grpSp>
      <p:sp>
        <p:nvSpPr>
          <p:cNvPr id="6" name="Freeform 6"/>
          <p:cNvSpPr/>
          <p:nvPr/>
        </p:nvSpPr>
        <p:spPr>
          <a:xfrm>
            <a:off x="9454582" y="1390183"/>
            <a:ext cx="5390070" cy="5390070"/>
          </a:xfrm>
          <a:custGeom>
            <a:avLst/>
            <a:gdLst/>
            <a:ahLst/>
            <a:cxnLst/>
            <a:rect l="l" t="t" r="r" b="b"/>
            <a:pathLst>
              <a:path w="5390070" h="5390070">
                <a:moveTo>
                  <a:pt x="0" y="0"/>
                </a:moveTo>
                <a:lnTo>
                  <a:pt x="5390070" y="0"/>
                </a:lnTo>
                <a:lnTo>
                  <a:pt x="5390070" y="5390070"/>
                </a:lnTo>
                <a:lnTo>
                  <a:pt x="0" y="539007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15289614" y="5230915"/>
            <a:ext cx="1549338" cy="1549338"/>
          </a:xfrm>
          <a:custGeom>
            <a:avLst/>
            <a:gdLst/>
            <a:ahLst/>
            <a:cxnLst/>
            <a:rect l="l" t="t" r="r" b="b"/>
            <a:pathLst>
              <a:path w="1549338" h="1549338">
                <a:moveTo>
                  <a:pt x="0" y="0"/>
                </a:moveTo>
                <a:lnTo>
                  <a:pt x="1549338" y="0"/>
                </a:lnTo>
                <a:lnTo>
                  <a:pt x="1549338" y="1549338"/>
                </a:lnTo>
                <a:lnTo>
                  <a:pt x="0" y="1549338"/>
                </a:lnTo>
                <a:lnTo>
                  <a:pt x="0" y="0"/>
                </a:lnTo>
                <a:close/>
              </a:path>
            </a:pathLst>
          </a:custGeom>
          <a:blipFill>
            <a:blip>
              <a:alphaModFix amt="98000"/>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131186" y="1083721"/>
            <a:ext cx="9369097" cy="3622963"/>
          </a:xfrm>
          <a:prstGeom prst="rect">
            <a:avLst/>
          </a:prstGeom>
        </p:spPr>
        <p:txBody>
          <a:bodyPr lIns="0" tIns="0" rIns="0" bIns="0" rtlCol="0" anchor="t">
            <a:spAutoFit/>
          </a:bodyPr>
          <a:lstStyle/>
          <a:p>
            <a:pPr algn="l">
              <a:lnSpc>
                <a:spcPts val="12563"/>
              </a:lnSpc>
            </a:pPr>
            <a:r>
              <a:rPr lang="en-US" sz="12563">
                <a:solidFill>
                  <a:srgbClr val="FFFFFF"/>
                </a:solidFill>
                <a:latin typeface="Agrandir Grand"/>
                <a:ea typeface="Agrandir Grand"/>
                <a:cs typeface="Agrandir Grand"/>
                <a:sym typeface="Agrandir Grand"/>
              </a:rPr>
              <a:t>PROJECT PLAN</a:t>
            </a:r>
          </a:p>
        </p:txBody>
      </p:sp>
      <p:sp>
        <p:nvSpPr>
          <p:cNvPr id="9" name="TextBox 9"/>
          <p:cNvSpPr txBox="1"/>
          <p:nvPr/>
        </p:nvSpPr>
        <p:spPr>
          <a:xfrm>
            <a:off x="10979836" y="7878719"/>
            <a:ext cx="5859117" cy="842357"/>
          </a:xfrm>
          <a:prstGeom prst="rect">
            <a:avLst/>
          </a:prstGeom>
        </p:spPr>
        <p:txBody>
          <a:bodyPr lIns="0" tIns="0" rIns="0" bIns="0" rtlCol="0" anchor="t">
            <a:spAutoFit/>
          </a:bodyPr>
          <a:lstStyle/>
          <a:p>
            <a:pPr algn="l">
              <a:lnSpc>
                <a:spcPts val="3183"/>
              </a:lnSpc>
            </a:pPr>
            <a:r>
              <a:rPr lang="en-US" sz="3183" i="1">
                <a:solidFill>
                  <a:srgbClr val="A2A2A2"/>
                </a:solidFill>
                <a:latin typeface="Poppins Italics"/>
                <a:ea typeface="Poppins Italics"/>
                <a:cs typeface="Poppins Italics"/>
                <a:sym typeface="Poppins Italics"/>
              </a:rPr>
              <a:t>Presented By : Nishan Jayasinghe and Phil Majam</a:t>
            </a:r>
          </a:p>
        </p:txBody>
      </p:sp>
      <p:sp>
        <p:nvSpPr>
          <p:cNvPr id="10" name="TextBox 10"/>
          <p:cNvSpPr txBox="1"/>
          <p:nvPr/>
        </p:nvSpPr>
        <p:spPr>
          <a:xfrm>
            <a:off x="0" y="6406581"/>
            <a:ext cx="11254541" cy="2054664"/>
          </a:xfrm>
          <a:prstGeom prst="rect">
            <a:avLst/>
          </a:prstGeom>
        </p:spPr>
        <p:txBody>
          <a:bodyPr lIns="0" tIns="0" rIns="0" bIns="0" rtlCol="0" anchor="t">
            <a:spAutoFit/>
          </a:bodyPr>
          <a:lstStyle/>
          <a:p>
            <a:pPr algn="ctr">
              <a:lnSpc>
                <a:spcPts val="8585"/>
              </a:lnSpc>
              <a:spcBef>
                <a:spcPct val="0"/>
              </a:spcBef>
            </a:pPr>
            <a:r>
              <a:rPr lang="en-US" sz="6132">
                <a:solidFill>
                  <a:srgbClr val="FFFFFF"/>
                </a:solidFill>
                <a:latin typeface="Poppins"/>
                <a:ea typeface="Poppins"/>
                <a:cs typeface="Poppins"/>
                <a:sym typeface="Poppins"/>
              </a:rPr>
              <a:t>Spendo: </a:t>
            </a:r>
          </a:p>
          <a:p>
            <a:pPr algn="ctr">
              <a:lnSpc>
                <a:spcPts val="7465"/>
              </a:lnSpc>
              <a:spcBef>
                <a:spcPct val="0"/>
              </a:spcBef>
            </a:pPr>
            <a:r>
              <a:rPr lang="en-US" sz="5332">
                <a:solidFill>
                  <a:srgbClr val="FFFFFF"/>
                </a:solidFill>
                <a:latin typeface="Poppins"/>
                <a:ea typeface="Poppins"/>
                <a:cs typeface="Poppins"/>
                <a:sym typeface="Poppins"/>
              </a:rPr>
              <a:t>An Expense Tracker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6008431" y="4907747"/>
            <a:ext cx="1250869" cy="1250869"/>
          </a:xfrm>
          <a:custGeom>
            <a:avLst/>
            <a:gdLst/>
            <a:ahLst/>
            <a:cxnLst/>
            <a:rect l="l" t="t" r="r" b="b"/>
            <a:pathLst>
              <a:path w="1250869" h="1250869">
                <a:moveTo>
                  <a:pt x="0" y="0"/>
                </a:moveTo>
                <a:lnTo>
                  <a:pt x="1250869" y="0"/>
                </a:lnTo>
                <a:lnTo>
                  <a:pt x="1250869" y="1250869"/>
                </a:lnTo>
                <a:lnTo>
                  <a:pt x="0" y="1250869"/>
                </a:lnTo>
                <a:lnTo>
                  <a:pt x="0" y="0"/>
                </a:lnTo>
                <a:close/>
              </a:path>
            </a:pathLst>
          </a:custGeom>
          <a:blipFill>
            <a:blip>
              <a:alphaModFix amt="98000"/>
              <a:extLst>
                <a:ext uri="{96DAC541-7B7A-43D3-8B79-37D633B846F1}">
                  <asvg:svgBlip xmlns:asvg="http://schemas.microsoft.com/office/drawing/2016/SVG/main" r:embed="rId2"/>
                </a:ext>
              </a:extLst>
            </a:blip>
            <a:stretch>
              <a:fillRect/>
            </a:stretch>
          </a:blipFill>
        </p:spPr>
      </p:sp>
      <p:sp>
        <p:nvSpPr>
          <p:cNvPr id="3" name="Freeform 3"/>
          <p:cNvSpPr/>
          <p:nvPr/>
        </p:nvSpPr>
        <p:spPr>
          <a:xfrm>
            <a:off x="-207749" y="8053422"/>
            <a:ext cx="3461594" cy="3461594"/>
          </a:xfrm>
          <a:custGeom>
            <a:avLst/>
            <a:gdLst/>
            <a:ahLst/>
            <a:cxnLst/>
            <a:rect l="l" t="t" r="r" b="b"/>
            <a:pathLst>
              <a:path w="3461594" h="3461594">
                <a:moveTo>
                  <a:pt x="0" y="0"/>
                </a:moveTo>
                <a:lnTo>
                  <a:pt x="3461594" y="0"/>
                </a:lnTo>
                <a:lnTo>
                  <a:pt x="3461594" y="3461594"/>
                </a:lnTo>
                <a:lnTo>
                  <a:pt x="0" y="3461594"/>
                </a:lnTo>
                <a:lnTo>
                  <a:pt x="0" y="0"/>
                </a:lnTo>
                <a:close/>
              </a:path>
            </a:pathLst>
          </a:custGeom>
          <a:blipFill>
            <a:blip>
              <a:alphaModFix amt="98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1523048" y="5344667"/>
            <a:ext cx="15241903" cy="3617903"/>
            <a:chOff x="0" y="0"/>
            <a:chExt cx="4063175" cy="964458"/>
          </a:xfrm>
        </p:grpSpPr>
        <p:sp>
          <p:nvSpPr>
            <p:cNvPr id="5" name="Freeform 5"/>
            <p:cNvSpPr/>
            <p:nvPr/>
          </p:nvSpPr>
          <p:spPr>
            <a:xfrm>
              <a:off x="0" y="0"/>
              <a:ext cx="4063176" cy="964458"/>
            </a:xfrm>
            <a:custGeom>
              <a:avLst/>
              <a:gdLst/>
              <a:ahLst/>
              <a:cxnLst/>
              <a:rect l="l" t="t" r="r" b="b"/>
              <a:pathLst>
                <a:path w="4063176" h="964458">
                  <a:moveTo>
                    <a:pt x="41651" y="0"/>
                  </a:moveTo>
                  <a:lnTo>
                    <a:pt x="4021525" y="0"/>
                  </a:lnTo>
                  <a:cubicBezTo>
                    <a:pt x="4044528" y="0"/>
                    <a:pt x="4063176" y="18648"/>
                    <a:pt x="4063176" y="41651"/>
                  </a:cubicBezTo>
                  <a:lnTo>
                    <a:pt x="4063176" y="922807"/>
                  </a:lnTo>
                  <a:cubicBezTo>
                    <a:pt x="4063176" y="933854"/>
                    <a:pt x="4058788" y="944448"/>
                    <a:pt x="4050976" y="952259"/>
                  </a:cubicBezTo>
                  <a:cubicBezTo>
                    <a:pt x="4043165" y="960070"/>
                    <a:pt x="4032571" y="964458"/>
                    <a:pt x="4021525" y="964458"/>
                  </a:cubicBezTo>
                  <a:lnTo>
                    <a:pt x="41651" y="964458"/>
                  </a:lnTo>
                  <a:cubicBezTo>
                    <a:pt x="18648" y="964458"/>
                    <a:pt x="0" y="945810"/>
                    <a:pt x="0" y="922807"/>
                  </a:cubicBezTo>
                  <a:lnTo>
                    <a:pt x="0" y="41651"/>
                  </a:lnTo>
                  <a:cubicBezTo>
                    <a:pt x="0" y="30604"/>
                    <a:pt x="4388" y="20010"/>
                    <a:pt x="12199" y="12199"/>
                  </a:cubicBezTo>
                  <a:cubicBezTo>
                    <a:pt x="20010" y="4388"/>
                    <a:pt x="30604" y="0"/>
                    <a:pt x="41651" y="0"/>
                  </a:cubicBezTo>
                  <a:close/>
                </a:path>
              </a:pathLst>
            </a:custGeom>
            <a:solidFill>
              <a:srgbClr val="FFFFFF">
                <a:alpha val="4706"/>
              </a:srgbClr>
            </a:solidFill>
          </p:spPr>
        </p:sp>
        <p:sp>
          <p:nvSpPr>
            <p:cNvPr id="6" name="TextBox 6"/>
            <p:cNvSpPr txBox="1"/>
            <p:nvPr/>
          </p:nvSpPr>
          <p:spPr>
            <a:xfrm>
              <a:off x="0" y="-57150"/>
              <a:ext cx="4063175" cy="1021608"/>
            </a:xfrm>
            <a:prstGeom prst="rect">
              <a:avLst/>
            </a:prstGeom>
          </p:spPr>
          <p:txBody>
            <a:bodyPr lIns="52257" tIns="52257" rIns="52257" bIns="52257" rtlCol="0" anchor="ctr"/>
            <a:lstStyle/>
            <a:p>
              <a:pPr algn="ctr">
                <a:lnSpc>
                  <a:spcPts val="2660"/>
                </a:lnSpc>
                <a:spcBef>
                  <a:spcPct val="0"/>
                </a:spcBef>
              </a:pPr>
              <a:endParaRPr/>
            </a:p>
          </p:txBody>
        </p:sp>
      </p:grpSp>
      <p:sp>
        <p:nvSpPr>
          <p:cNvPr id="7" name="TextBox 7"/>
          <p:cNvSpPr txBox="1"/>
          <p:nvPr/>
        </p:nvSpPr>
        <p:spPr>
          <a:xfrm>
            <a:off x="1523048" y="3328440"/>
            <a:ext cx="15241903" cy="1332725"/>
          </a:xfrm>
          <a:prstGeom prst="rect">
            <a:avLst/>
          </a:prstGeom>
        </p:spPr>
        <p:txBody>
          <a:bodyPr lIns="0" tIns="0" rIns="0" bIns="0" rtlCol="0" anchor="t">
            <a:spAutoFit/>
          </a:bodyPr>
          <a:lstStyle/>
          <a:p>
            <a:pPr algn="l">
              <a:lnSpc>
                <a:spcPts val="8219"/>
              </a:lnSpc>
            </a:pPr>
            <a:r>
              <a:rPr lang="en-US" sz="8219">
                <a:solidFill>
                  <a:srgbClr val="FFFFFF"/>
                </a:solidFill>
                <a:latin typeface="Agrandir Grand"/>
                <a:ea typeface="Agrandir Grand"/>
                <a:cs typeface="Agrandir Grand"/>
                <a:sym typeface="Agrandir Grand"/>
              </a:rPr>
              <a:t>PROBLEM STATEMENT</a:t>
            </a:r>
          </a:p>
        </p:txBody>
      </p:sp>
      <p:sp>
        <p:nvSpPr>
          <p:cNvPr id="8" name="TextBox 8"/>
          <p:cNvSpPr txBox="1"/>
          <p:nvPr/>
        </p:nvSpPr>
        <p:spPr>
          <a:xfrm>
            <a:off x="2403593" y="5921722"/>
            <a:ext cx="13083680" cy="2911468"/>
          </a:xfrm>
          <a:prstGeom prst="rect">
            <a:avLst/>
          </a:prstGeom>
        </p:spPr>
        <p:txBody>
          <a:bodyPr lIns="0" tIns="0" rIns="0" bIns="0" rtlCol="0" anchor="t">
            <a:spAutoFit/>
          </a:bodyPr>
          <a:lstStyle/>
          <a:p>
            <a:pPr algn="just">
              <a:lnSpc>
                <a:spcPts val="3249"/>
              </a:lnSpc>
            </a:pPr>
            <a:r>
              <a:rPr lang="en-US" sz="3249">
                <a:solidFill>
                  <a:srgbClr val="FFFFFF"/>
                </a:solidFill>
                <a:latin typeface="Poppins"/>
                <a:ea typeface="Poppins"/>
                <a:cs typeface="Poppins"/>
                <a:sym typeface="Poppins"/>
              </a:rPr>
              <a:t>Financial literacy is a very important skill for everyone to learn because it helps with money management, avoiding financial stress, promoting financial independence and making better decisions with money. Sadly though, in my observations of myself, classmates, family and friends not a lot of us are that financially smart so we plan to help foster this skill in them and other people like us.</a:t>
            </a:r>
          </a:p>
        </p:txBody>
      </p:sp>
      <p:sp>
        <p:nvSpPr>
          <p:cNvPr id="9" name="Freeform 9"/>
          <p:cNvSpPr/>
          <p:nvPr/>
        </p:nvSpPr>
        <p:spPr>
          <a:xfrm>
            <a:off x="1523048" y="1670069"/>
            <a:ext cx="665937" cy="385033"/>
          </a:xfrm>
          <a:custGeom>
            <a:avLst/>
            <a:gdLst/>
            <a:ahLst/>
            <a:cxnLst/>
            <a:rect l="l" t="t" r="r" b="b"/>
            <a:pathLst>
              <a:path w="665937" h="385033">
                <a:moveTo>
                  <a:pt x="0" y="0"/>
                </a:moveTo>
                <a:lnTo>
                  <a:pt x="665937" y="0"/>
                </a:lnTo>
                <a:lnTo>
                  <a:pt x="665937" y="385033"/>
                </a:lnTo>
                <a:lnTo>
                  <a:pt x="0" y="38503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AutoShape 10"/>
          <p:cNvSpPr/>
          <p:nvPr/>
        </p:nvSpPr>
        <p:spPr>
          <a:xfrm>
            <a:off x="2965365" y="1857823"/>
            <a:ext cx="7555869" cy="9525"/>
          </a:xfrm>
          <a:prstGeom prst="line">
            <a:avLst/>
          </a:prstGeom>
          <a:ln w="19050" cap="flat">
            <a:solidFill>
              <a:srgbClr val="4C4C4C"/>
            </a:solidFill>
            <a:prstDash val="solid"/>
            <a:headEnd type="none" w="sm" len="sm"/>
            <a:tailEnd type="none" w="sm" len="sm"/>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895070" y="4599905"/>
            <a:ext cx="7493210" cy="7493210"/>
          </a:xfrm>
          <a:custGeom>
            <a:avLst/>
            <a:gdLst/>
            <a:ahLst/>
            <a:cxnLst/>
            <a:rect l="l" t="t" r="r" b="b"/>
            <a:pathLst>
              <a:path w="7493210" h="7493210">
                <a:moveTo>
                  <a:pt x="0" y="0"/>
                </a:moveTo>
                <a:lnTo>
                  <a:pt x="7493209" y="0"/>
                </a:lnTo>
                <a:lnTo>
                  <a:pt x="7493209" y="7493210"/>
                </a:lnTo>
                <a:lnTo>
                  <a:pt x="0" y="749321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3595837" y="2294612"/>
            <a:ext cx="1811491" cy="1811491"/>
          </a:xfrm>
          <a:custGeom>
            <a:avLst/>
            <a:gdLst/>
            <a:ahLst/>
            <a:cxnLst/>
            <a:rect l="l" t="t" r="r" b="b"/>
            <a:pathLst>
              <a:path w="1811491" h="1811491">
                <a:moveTo>
                  <a:pt x="0" y="0"/>
                </a:moveTo>
                <a:lnTo>
                  <a:pt x="1811492" y="0"/>
                </a:lnTo>
                <a:lnTo>
                  <a:pt x="1811492" y="1811492"/>
                </a:lnTo>
                <a:lnTo>
                  <a:pt x="0" y="1811492"/>
                </a:lnTo>
                <a:lnTo>
                  <a:pt x="0" y="0"/>
                </a:lnTo>
                <a:close/>
              </a:path>
            </a:pathLst>
          </a:custGeom>
          <a:blipFill>
            <a:blip>
              <a:alphaModFix amt="98000"/>
              <a:extLst>
                <a:ext uri="{96DAC541-7B7A-43D3-8B79-37D633B846F1}">
                  <asvg:svgBlip xmlns:asvg="http://schemas.microsoft.com/office/drawing/2016/SVG/main" r:embed="rId2"/>
                </a:ext>
              </a:extLst>
            </a:blip>
            <a:stretch>
              <a:fillRect/>
            </a:stretch>
          </a:blipFill>
        </p:spPr>
      </p:sp>
      <p:sp>
        <p:nvSpPr>
          <p:cNvPr id="4" name="AutoShape 4"/>
          <p:cNvSpPr/>
          <p:nvPr/>
        </p:nvSpPr>
        <p:spPr>
          <a:xfrm flipV="1">
            <a:off x="1652782" y="7430964"/>
            <a:ext cx="13462910" cy="0"/>
          </a:xfrm>
          <a:prstGeom prst="line">
            <a:avLst/>
          </a:prstGeom>
          <a:ln w="19050" cap="flat">
            <a:solidFill>
              <a:srgbClr val="4C4C4C"/>
            </a:solidFill>
            <a:prstDash val="solid"/>
            <a:headEnd type="none" w="sm" len="sm"/>
            <a:tailEnd type="none" w="sm" len="sm"/>
          </a:ln>
        </p:spPr>
      </p:sp>
      <p:sp>
        <p:nvSpPr>
          <p:cNvPr id="5" name="TextBox 5"/>
          <p:cNvSpPr txBox="1"/>
          <p:nvPr/>
        </p:nvSpPr>
        <p:spPr>
          <a:xfrm>
            <a:off x="3387618" y="1066275"/>
            <a:ext cx="9993237" cy="2370950"/>
          </a:xfrm>
          <a:prstGeom prst="rect">
            <a:avLst/>
          </a:prstGeom>
        </p:spPr>
        <p:txBody>
          <a:bodyPr lIns="0" tIns="0" rIns="0" bIns="0" rtlCol="0" anchor="t">
            <a:spAutoFit/>
          </a:bodyPr>
          <a:lstStyle/>
          <a:p>
            <a:pPr algn="r">
              <a:lnSpc>
                <a:spcPts val="8219"/>
              </a:lnSpc>
            </a:pPr>
            <a:r>
              <a:rPr lang="en-US" sz="8219">
                <a:solidFill>
                  <a:srgbClr val="FFFFFF"/>
                </a:solidFill>
                <a:latin typeface="Agrandir Grand"/>
                <a:ea typeface="Agrandir Grand"/>
                <a:cs typeface="Agrandir Grand"/>
                <a:sym typeface="Agrandir Grand"/>
              </a:rPr>
              <a:t>      PROJECT            </a:t>
            </a:r>
          </a:p>
          <a:p>
            <a:pPr algn="r">
              <a:lnSpc>
                <a:spcPts val="8219"/>
              </a:lnSpc>
            </a:pPr>
            <a:r>
              <a:rPr lang="en-US" sz="8219">
                <a:solidFill>
                  <a:srgbClr val="FFFFFF"/>
                </a:solidFill>
                <a:latin typeface="Agrandir Grand"/>
                <a:ea typeface="Agrandir Grand"/>
                <a:cs typeface="Agrandir Grand"/>
                <a:sym typeface="Agrandir Grand"/>
              </a:rPr>
              <a:t>OBJECTIVE     </a:t>
            </a:r>
          </a:p>
        </p:txBody>
      </p:sp>
      <p:sp>
        <p:nvSpPr>
          <p:cNvPr id="6" name="Freeform 6"/>
          <p:cNvSpPr/>
          <p:nvPr/>
        </p:nvSpPr>
        <p:spPr>
          <a:xfrm>
            <a:off x="1523048" y="1712986"/>
            <a:ext cx="665937" cy="385033"/>
          </a:xfrm>
          <a:custGeom>
            <a:avLst/>
            <a:gdLst/>
            <a:ahLst/>
            <a:cxnLst/>
            <a:rect l="l" t="t" r="r" b="b"/>
            <a:pathLst>
              <a:path w="665937" h="385033">
                <a:moveTo>
                  <a:pt x="0" y="0"/>
                </a:moveTo>
                <a:lnTo>
                  <a:pt x="665937" y="0"/>
                </a:lnTo>
                <a:lnTo>
                  <a:pt x="665937" y="385033"/>
                </a:lnTo>
                <a:lnTo>
                  <a:pt x="0" y="38503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0" y="5476155"/>
            <a:ext cx="18045296" cy="1801896"/>
          </a:xfrm>
          <a:prstGeom prst="rect">
            <a:avLst/>
          </a:prstGeom>
        </p:spPr>
        <p:txBody>
          <a:bodyPr lIns="0" tIns="0" rIns="0" bIns="0" rtlCol="0" anchor="t">
            <a:spAutoFit/>
          </a:bodyPr>
          <a:lstStyle/>
          <a:p>
            <a:pPr algn="ctr">
              <a:lnSpc>
                <a:spcPts val="3563"/>
              </a:lnSpc>
              <a:spcBef>
                <a:spcPct val="0"/>
              </a:spcBef>
            </a:pPr>
            <a:r>
              <a:rPr lang="en-US" sz="2545">
                <a:solidFill>
                  <a:srgbClr val="FFFFFF"/>
                </a:solidFill>
                <a:latin typeface="Poppins"/>
                <a:ea typeface="Poppins"/>
                <a:cs typeface="Poppins"/>
                <a:sym typeface="Poppins"/>
              </a:rPr>
              <a:t>This project’s objective is to create a web page that serves as an easy to use expense tracker with features like adding money to your balance, deducting money, classifying and recording expenses and to view the list of your transactions. This is for anyone to use but most importantly teens and young adults to help foster financial literacy within them.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664915" y="8452439"/>
            <a:ext cx="5020845" cy="5020845"/>
          </a:xfrm>
          <a:custGeom>
            <a:avLst/>
            <a:gdLst/>
            <a:ahLst/>
            <a:cxnLst/>
            <a:rect l="l" t="t" r="r" b="b"/>
            <a:pathLst>
              <a:path w="5020845" h="5020845">
                <a:moveTo>
                  <a:pt x="0" y="0"/>
                </a:moveTo>
                <a:lnTo>
                  <a:pt x="5020846" y="0"/>
                </a:lnTo>
                <a:lnTo>
                  <a:pt x="5020846" y="5020845"/>
                </a:lnTo>
                <a:lnTo>
                  <a:pt x="0" y="5020845"/>
                </a:lnTo>
                <a:lnTo>
                  <a:pt x="0" y="0"/>
                </a:lnTo>
                <a:close/>
              </a:path>
            </a:pathLst>
          </a:custGeom>
          <a:blipFill>
            <a:blip>
              <a:alphaModFix amt="98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6984027" y="4498255"/>
            <a:ext cx="2774206" cy="2774206"/>
          </a:xfrm>
          <a:custGeom>
            <a:avLst/>
            <a:gdLst/>
            <a:ahLst/>
            <a:cxnLst/>
            <a:rect l="l" t="t" r="r" b="b"/>
            <a:pathLst>
              <a:path w="2774206" h="2774206">
                <a:moveTo>
                  <a:pt x="0" y="0"/>
                </a:moveTo>
                <a:lnTo>
                  <a:pt x="2774205" y="0"/>
                </a:lnTo>
                <a:lnTo>
                  <a:pt x="2774205" y="2774206"/>
                </a:lnTo>
                <a:lnTo>
                  <a:pt x="0" y="277420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7427703" y="6171571"/>
            <a:ext cx="1306722" cy="1306722"/>
          </a:xfrm>
          <a:custGeom>
            <a:avLst/>
            <a:gdLst/>
            <a:ahLst/>
            <a:cxnLst/>
            <a:rect l="l" t="t" r="r" b="b"/>
            <a:pathLst>
              <a:path w="1306722" h="1306722">
                <a:moveTo>
                  <a:pt x="0" y="0"/>
                </a:moveTo>
                <a:lnTo>
                  <a:pt x="1306722" y="0"/>
                </a:lnTo>
                <a:lnTo>
                  <a:pt x="1306722" y="1306722"/>
                </a:lnTo>
                <a:lnTo>
                  <a:pt x="0" y="1306722"/>
                </a:lnTo>
                <a:lnTo>
                  <a:pt x="0" y="0"/>
                </a:lnTo>
                <a:close/>
              </a:path>
            </a:pathLst>
          </a:custGeom>
          <a:blipFill>
            <a:blip>
              <a:alphaModFix amt="98000"/>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1387402" y="1681627"/>
            <a:ext cx="6935736" cy="1332725"/>
          </a:xfrm>
          <a:prstGeom prst="rect">
            <a:avLst/>
          </a:prstGeom>
        </p:spPr>
        <p:txBody>
          <a:bodyPr lIns="0" tIns="0" rIns="0" bIns="0" rtlCol="0" anchor="t">
            <a:spAutoFit/>
          </a:bodyPr>
          <a:lstStyle/>
          <a:p>
            <a:pPr algn="l">
              <a:lnSpc>
                <a:spcPts val="8219"/>
              </a:lnSpc>
            </a:pPr>
            <a:r>
              <a:rPr lang="en-US" sz="8219">
                <a:solidFill>
                  <a:srgbClr val="FFFFFF"/>
                </a:solidFill>
                <a:latin typeface="Agrandir Grand"/>
                <a:ea typeface="Agrandir Grand"/>
                <a:cs typeface="Agrandir Grand"/>
                <a:sym typeface="Agrandir Grand"/>
              </a:rPr>
              <a:t>FEATURES:</a:t>
            </a:r>
          </a:p>
        </p:txBody>
      </p:sp>
      <p:sp>
        <p:nvSpPr>
          <p:cNvPr id="6" name="TextBox 6"/>
          <p:cNvSpPr txBox="1"/>
          <p:nvPr/>
        </p:nvSpPr>
        <p:spPr>
          <a:xfrm>
            <a:off x="1523048" y="6192657"/>
            <a:ext cx="5304579" cy="438782"/>
          </a:xfrm>
          <a:prstGeom prst="rect">
            <a:avLst/>
          </a:prstGeom>
        </p:spPr>
        <p:txBody>
          <a:bodyPr lIns="0" tIns="0" rIns="0" bIns="0" rtlCol="0" anchor="t">
            <a:spAutoFit/>
          </a:bodyPr>
          <a:lstStyle/>
          <a:p>
            <a:pPr algn="l">
              <a:lnSpc>
                <a:spcPts val="3149"/>
              </a:lnSpc>
            </a:pPr>
            <a:endParaRPr/>
          </a:p>
        </p:txBody>
      </p:sp>
      <p:grpSp>
        <p:nvGrpSpPr>
          <p:cNvPr id="7" name="Group 7"/>
          <p:cNvGrpSpPr/>
          <p:nvPr/>
        </p:nvGrpSpPr>
        <p:grpSpPr>
          <a:xfrm>
            <a:off x="8900965" y="1462710"/>
            <a:ext cx="8306167" cy="1727736"/>
            <a:chOff x="0" y="0"/>
            <a:chExt cx="11074890" cy="2303647"/>
          </a:xfrm>
        </p:grpSpPr>
        <p:grpSp>
          <p:nvGrpSpPr>
            <p:cNvPr id="8" name="Group 8"/>
            <p:cNvGrpSpPr/>
            <p:nvPr/>
          </p:nvGrpSpPr>
          <p:grpSpPr>
            <a:xfrm>
              <a:off x="0" y="0"/>
              <a:ext cx="11074890" cy="2303647"/>
              <a:chOff x="0" y="0"/>
              <a:chExt cx="2214252" cy="460578"/>
            </a:xfrm>
          </p:grpSpPr>
          <p:sp>
            <p:nvSpPr>
              <p:cNvPr id="9" name="Freeform 9"/>
              <p:cNvSpPr/>
              <p:nvPr/>
            </p:nvSpPr>
            <p:spPr>
              <a:xfrm>
                <a:off x="0" y="0"/>
                <a:ext cx="2214252" cy="460578"/>
              </a:xfrm>
              <a:custGeom>
                <a:avLst/>
                <a:gdLst/>
                <a:ahLst/>
                <a:cxnLst/>
                <a:rect l="l" t="t" r="r" b="b"/>
                <a:pathLst>
                  <a:path w="2214252" h="460578">
                    <a:moveTo>
                      <a:pt x="76430" y="0"/>
                    </a:moveTo>
                    <a:lnTo>
                      <a:pt x="2137822" y="0"/>
                    </a:lnTo>
                    <a:cubicBezTo>
                      <a:pt x="2158093" y="0"/>
                      <a:pt x="2177533" y="8052"/>
                      <a:pt x="2191866" y="22386"/>
                    </a:cubicBezTo>
                    <a:cubicBezTo>
                      <a:pt x="2206200" y="36719"/>
                      <a:pt x="2214252" y="56159"/>
                      <a:pt x="2214252" y="76430"/>
                    </a:cubicBezTo>
                    <a:lnTo>
                      <a:pt x="2214252" y="384149"/>
                    </a:lnTo>
                    <a:cubicBezTo>
                      <a:pt x="2214252" y="404419"/>
                      <a:pt x="2206200" y="423859"/>
                      <a:pt x="2191866" y="438193"/>
                    </a:cubicBezTo>
                    <a:cubicBezTo>
                      <a:pt x="2177533" y="452526"/>
                      <a:pt x="2158093" y="460578"/>
                      <a:pt x="2137822" y="460578"/>
                    </a:cubicBezTo>
                    <a:lnTo>
                      <a:pt x="76430" y="460578"/>
                    </a:lnTo>
                    <a:cubicBezTo>
                      <a:pt x="56159" y="460578"/>
                      <a:pt x="36719" y="452526"/>
                      <a:pt x="22386" y="438193"/>
                    </a:cubicBezTo>
                    <a:cubicBezTo>
                      <a:pt x="8052" y="423859"/>
                      <a:pt x="0" y="404419"/>
                      <a:pt x="0" y="384149"/>
                    </a:cubicBezTo>
                    <a:lnTo>
                      <a:pt x="0" y="76430"/>
                    </a:lnTo>
                    <a:cubicBezTo>
                      <a:pt x="0" y="56159"/>
                      <a:pt x="8052" y="36719"/>
                      <a:pt x="22386" y="22386"/>
                    </a:cubicBezTo>
                    <a:cubicBezTo>
                      <a:pt x="36719" y="8052"/>
                      <a:pt x="56159" y="0"/>
                      <a:pt x="76430" y="0"/>
                    </a:cubicBezTo>
                    <a:close/>
                  </a:path>
                </a:pathLst>
              </a:custGeom>
              <a:solidFill>
                <a:srgbClr val="FFFFFF">
                  <a:alpha val="4706"/>
                </a:srgbClr>
              </a:solidFill>
            </p:spPr>
          </p:sp>
          <p:sp>
            <p:nvSpPr>
              <p:cNvPr id="10" name="TextBox 10"/>
              <p:cNvSpPr txBox="1"/>
              <p:nvPr/>
            </p:nvSpPr>
            <p:spPr>
              <a:xfrm>
                <a:off x="0" y="-57150"/>
                <a:ext cx="2214252" cy="517728"/>
              </a:xfrm>
              <a:prstGeom prst="rect">
                <a:avLst/>
              </a:prstGeom>
            </p:spPr>
            <p:txBody>
              <a:bodyPr lIns="52257" tIns="52257" rIns="52257" bIns="52257" rtlCol="0" anchor="ctr"/>
              <a:lstStyle/>
              <a:p>
                <a:pPr algn="ctr">
                  <a:lnSpc>
                    <a:spcPts val="2660"/>
                  </a:lnSpc>
                  <a:spcBef>
                    <a:spcPct val="0"/>
                  </a:spcBef>
                </a:pPr>
                <a:endParaRPr/>
              </a:p>
            </p:txBody>
          </p:sp>
        </p:grpSp>
        <p:grpSp>
          <p:nvGrpSpPr>
            <p:cNvPr id="11" name="Group 11"/>
            <p:cNvGrpSpPr/>
            <p:nvPr/>
          </p:nvGrpSpPr>
          <p:grpSpPr>
            <a:xfrm>
              <a:off x="640324" y="626471"/>
              <a:ext cx="1050706" cy="105070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74681">
                      <a:alpha val="100000"/>
                    </a:srgbClr>
                  </a:gs>
                  <a:gs pos="100000">
                    <a:srgbClr val="1F1344">
                      <a:alpha val="100000"/>
                    </a:srgbClr>
                  </a:gs>
                </a:gsLst>
                <a:lin ang="2700000"/>
              </a:gra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2660"/>
                  </a:lnSpc>
                </a:pPr>
                <a:endParaRPr/>
              </a:p>
            </p:txBody>
          </p:sp>
        </p:grpSp>
        <p:sp>
          <p:nvSpPr>
            <p:cNvPr id="14" name="TextBox 14"/>
            <p:cNvSpPr txBox="1"/>
            <p:nvPr/>
          </p:nvSpPr>
          <p:spPr>
            <a:xfrm>
              <a:off x="1983267" y="941825"/>
              <a:ext cx="8107944" cy="439047"/>
            </a:xfrm>
            <a:prstGeom prst="rect">
              <a:avLst/>
            </a:prstGeom>
          </p:spPr>
          <p:txBody>
            <a:bodyPr lIns="0" tIns="0" rIns="0" bIns="0" rtlCol="0" anchor="t">
              <a:spAutoFit/>
            </a:bodyPr>
            <a:lstStyle/>
            <a:p>
              <a:pPr algn="l">
                <a:lnSpc>
                  <a:spcPts val="2276"/>
                </a:lnSpc>
              </a:pPr>
              <a:r>
                <a:rPr lang="en-US" sz="2276">
                  <a:solidFill>
                    <a:srgbClr val="FFFFFF"/>
                  </a:solidFill>
                  <a:latin typeface="Poppins"/>
                  <a:ea typeface="Poppins"/>
                  <a:cs typeface="Poppins"/>
                  <a:sym typeface="Poppins"/>
                </a:rPr>
                <a:t>Balance constantly in view</a:t>
              </a:r>
            </a:p>
          </p:txBody>
        </p:sp>
        <p:sp>
          <p:nvSpPr>
            <p:cNvPr id="15" name="TextBox 15"/>
            <p:cNvSpPr txBox="1"/>
            <p:nvPr/>
          </p:nvSpPr>
          <p:spPr>
            <a:xfrm>
              <a:off x="891077" y="941825"/>
              <a:ext cx="549201" cy="439047"/>
            </a:xfrm>
            <a:prstGeom prst="rect">
              <a:avLst/>
            </a:prstGeom>
          </p:spPr>
          <p:txBody>
            <a:bodyPr lIns="0" tIns="0" rIns="0" bIns="0" rtlCol="0" anchor="t">
              <a:spAutoFit/>
            </a:bodyPr>
            <a:lstStyle/>
            <a:p>
              <a:pPr algn="ctr">
                <a:lnSpc>
                  <a:spcPts val="2276"/>
                </a:lnSpc>
              </a:pPr>
              <a:r>
                <a:rPr lang="en-US" sz="2276" b="1">
                  <a:solidFill>
                    <a:srgbClr val="FFFFFF"/>
                  </a:solidFill>
                  <a:latin typeface="Poppins Bold"/>
                  <a:ea typeface="Poppins Bold"/>
                  <a:cs typeface="Poppins Bold"/>
                  <a:sym typeface="Poppins Bold"/>
                </a:rPr>
                <a:t>01</a:t>
              </a:r>
            </a:p>
          </p:txBody>
        </p:sp>
      </p:grpSp>
      <p:grpSp>
        <p:nvGrpSpPr>
          <p:cNvPr id="16" name="Group 16"/>
          <p:cNvGrpSpPr/>
          <p:nvPr/>
        </p:nvGrpSpPr>
        <p:grpSpPr>
          <a:xfrm>
            <a:off x="8900965" y="3399996"/>
            <a:ext cx="8306167" cy="1759697"/>
            <a:chOff x="0" y="0"/>
            <a:chExt cx="11074890" cy="2346262"/>
          </a:xfrm>
        </p:grpSpPr>
        <p:grpSp>
          <p:nvGrpSpPr>
            <p:cNvPr id="17" name="Group 17"/>
            <p:cNvGrpSpPr/>
            <p:nvPr/>
          </p:nvGrpSpPr>
          <p:grpSpPr>
            <a:xfrm>
              <a:off x="0" y="0"/>
              <a:ext cx="11074890" cy="2346262"/>
              <a:chOff x="0" y="0"/>
              <a:chExt cx="2214252" cy="469099"/>
            </a:xfrm>
          </p:grpSpPr>
          <p:sp>
            <p:nvSpPr>
              <p:cNvPr id="18" name="Freeform 18"/>
              <p:cNvSpPr/>
              <p:nvPr/>
            </p:nvSpPr>
            <p:spPr>
              <a:xfrm>
                <a:off x="0" y="0"/>
                <a:ext cx="2214252" cy="469099"/>
              </a:xfrm>
              <a:custGeom>
                <a:avLst/>
                <a:gdLst/>
                <a:ahLst/>
                <a:cxnLst/>
                <a:rect l="l" t="t" r="r" b="b"/>
                <a:pathLst>
                  <a:path w="2214252" h="469099">
                    <a:moveTo>
                      <a:pt x="76430" y="0"/>
                    </a:moveTo>
                    <a:lnTo>
                      <a:pt x="2137822" y="0"/>
                    </a:lnTo>
                    <a:cubicBezTo>
                      <a:pt x="2158093" y="0"/>
                      <a:pt x="2177533" y="8052"/>
                      <a:pt x="2191866" y="22386"/>
                    </a:cubicBezTo>
                    <a:cubicBezTo>
                      <a:pt x="2206200" y="36719"/>
                      <a:pt x="2214252" y="56159"/>
                      <a:pt x="2214252" y="76430"/>
                    </a:cubicBezTo>
                    <a:lnTo>
                      <a:pt x="2214252" y="392669"/>
                    </a:lnTo>
                    <a:cubicBezTo>
                      <a:pt x="2214252" y="434880"/>
                      <a:pt x="2180033" y="469099"/>
                      <a:pt x="2137822" y="469099"/>
                    </a:cubicBezTo>
                    <a:lnTo>
                      <a:pt x="76430" y="469099"/>
                    </a:lnTo>
                    <a:cubicBezTo>
                      <a:pt x="56159" y="469099"/>
                      <a:pt x="36719" y="461046"/>
                      <a:pt x="22386" y="446713"/>
                    </a:cubicBezTo>
                    <a:cubicBezTo>
                      <a:pt x="8052" y="432380"/>
                      <a:pt x="0" y="412939"/>
                      <a:pt x="0" y="392669"/>
                    </a:cubicBezTo>
                    <a:lnTo>
                      <a:pt x="0" y="76430"/>
                    </a:lnTo>
                    <a:cubicBezTo>
                      <a:pt x="0" y="56159"/>
                      <a:pt x="8052" y="36719"/>
                      <a:pt x="22386" y="22386"/>
                    </a:cubicBezTo>
                    <a:cubicBezTo>
                      <a:pt x="36719" y="8052"/>
                      <a:pt x="56159" y="0"/>
                      <a:pt x="76430" y="0"/>
                    </a:cubicBezTo>
                    <a:close/>
                  </a:path>
                </a:pathLst>
              </a:custGeom>
              <a:solidFill>
                <a:srgbClr val="FFFFFF">
                  <a:alpha val="4706"/>
                </a:srgbClr>
              </a:solidFill>
            </p:spPr>
          </p:sp>
          <p:sp>
            <p:nvSpPr>
              <p:cNvPr id="19" name="TextBox 19"/>
              <p:cNvSpPr txBox="1"/>
              <p:nvPr/>
            </p:nvSpPr>
            <p:spPr>
              <a:xfrm>
                <a:off x="0" y="-57150"/>
                <a:ext cx="2214252" cy="526249"/>
              </a:xfrm>
              <a:prstGeom prst="rect">
                <a:avLst/>
              </a:prstGeom>
            </p:spPr>
            <p:txBody>
              <a:bodyPr lIns="52257" tIns="52257" rIns="52257" bIns="52257" rtlCol="0" anchor="ctr"/>
              <a:lstStyle/>
              <a:p>
                <a:pPr algn="ctr">
                  <a:lnSpc>
                    <a:spcPts val="2660"/>
                  </a:lnSpc>
                  <a:spcBef>
                    <a:spcPct val="0"/>
                  </a:spcBef>
                </a:pPr>
                <a:endParaRPr/>
              </a:p>
            </p:txBody>
          </p:sp>
        </p:grpSp>
        <p:grpSp>
          <p:nvGrpSpPr>
            <p:cNvPr id="20" name="Group 20"/>
            <p:cNvGrpSpPr/>
            <p:nvPr/>
          </p:nvGrpSpPr>
          <p:grpSpPr>
            <a:xfrm>
              <a:off x="913621" y="628758"/>
              <a:ext cx="1050706" cy="1050706"/>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74681">
                      <a:alpha val="100000"/>
                    </a:srgbClr>
                  </a:gs>
                  <a:gs pos="100000">
                    <a:srgbClr val="1F1344">
                      <a:alpha val="100000"/>
                    </a:srgbClr>
                  </a:gs>
                </a:gsLst>
                <a:lin ang="2700000"/>
              </a:gradFill>
            </p:spPr>
          </p:sp>
          <p:sp>
            <p:nvSpPr>
              <p:cNvPr id="22" name="TextBox 22"/>
              <p:cNvSpPr txBox="1"/>
              <p:nvPr/>
            </p:nvSpPr>
            <p:spPr>
              <a:xfrm>
                <a:off x="76200" y="19050"/>
                <a:ext cx="660400" cy="717550"/>
              </a:xfrm>
              <a:prstGeom prst="rect">
                <a:avLst/>
              </a:prstGeom>
            </p:spPr>
            <p:txBody>
              <a:bodyPr lIns="50800" tIns="50800" rIns="50800" bIns="50800" rtlCol="0" anchor="ctr"/>
              <a:lstStyle/>
              <a:p>
                <a:pPr algn="ctr">
                  <a:lnSpc>
                    <a:spcPts val="2660"/>
                  </a:lnSpc>
                </a:pPr>
                <a:endParaRPr/>
              </a:p>
            </p:txBody>
          </p:sp>
        </p:grpSp>
        <p:sp>
          <p:nvSpPr>
            <p:cNvPr id="23" name="TextBox 23"/>
            <p:cNvSpPr txBox="1"/>
            <p:nvPr/>
          </p:nvSpPr>
          <p:spPr>
            <a:xfrm>
              <a:off x="2256564" y="909300"/>
              <a:ext cx="8107944" cy="812779"/>
            </a:xfrm>
            <a:prstGeom prst="rect">
              <a:avLst/>
            </a:prstGeom>
          </p:spPr>
          <p:txBody>
            <a:bodyPr lIns="0" tIns="0" rIns="0" bIns="0" rtlCol="0" anchor="t">
              <a:spAutoFit/>
            </a:bodyPr>
            <a:lstStyle/>
            <a:p>
              <a:pPr algn="l">
                <a:lnSpc>
                  <a:spcPts val="2276"/>
                </a:lnSpc>
              </a:pPr>
              <a:r>
                <a:rPr lang="en-US" sz="2276">
                  <a:solidFill>
                    <a:srgbClr val="FFFFFF"/>
                  </a:solidFill>
                  <a:latin typeface="Poppins"/>
                  <a:ea typeface="Poppins"/>
                  <a:cs typeface="Poppins"/>
                  <a:sym typeface="Poppins"/>
                </a:rPr>
                <a:t>Adding and deducting money from balance</a:t>
              </a:r>
            </a:p>
          </p:txBody>
        </p:sp>
        <p:sp>
          <p:nvSpPr>
            <p:cNvPr id="24" name="TextBox 24"/>
            <p:cNvSpPr txBox="1"/>
            <p:nvPr/>
          </p:nvSpPr>
          <p:spPr>
            <a:xfrm>
              <a:off x="1164374" y="941825"/>
              <a:ext cx="549201" cy="439047"/>
            </a:xfrm>
            <a:prstGeom prst="rect">
              <a:avLst/>
            </a:prstGeom>
          </p:spPr>
          <p:txBody>
            <a:bodyPr lIns="0" tIns="0" rIns="0" bIns="0" rtlCol="0" anchor="t">
              <a:spAutoFit/>
            </a:bodyPr>
            <a:lstStyle/>
            <a:p>
              <a:pPr algn="ctr">
                <a:lnSpc>
                  <a:spcPts val="2276"/>
                </a:lnSpc>
              </a:pPr>
              <a:r>
                <a:rPr lang="en-US" sz="2276" b="1">
                  <a:solidFill>
                    <a:srgbClr val="FFFFFF"/>
                  </a:solidFill>
                  <a:latin typeface="Poppins Bold"/>
                  <a:ea typeface="Poppins Bold"/>
                  <a:cs typeface="Poppins Bold"/>
                  <a:sym typeface="Poppins Bold"/>
                </a:rPr>
                <a:t>02</a:t>
              </a:r>
            </a:p>
          </p:txBody>
        </p:sp>
      </p:grpSp>
      <p:grpSp>
        <p:nvGrpSpPr>
          <p:cNvPr id="25" name="Group 25"/>
          <p:cNvGrpSpPr/>
          <p:nvPr/>
        </p:nvGrpSpPr>
        <p:grpSpPr>
          <a:xfrm>
            <a:off x="8734425" y="5458050"/>
            <a:ext cx="8306167" cy="1727736"/>
            <a:chOff x="0" y="0"/>
            <a:chExt cx="11074890" cy="2303647"/>
          </a:xfrm>
        </p:grpSpPr>
        <p:grpSp>
          <p:nvGrpSpPr>
            <p:cNvPr id="26" name="Group 26"/>
            <p:cNvGrpSpPr/>
            <p:nvPr/>
          </p:nvGrpSpPr>
          <p:grpSpPr>
            <a:xfrm>
              <a:off x="0" y="0"/>
              <a:ext cx="11074890" cy="2303647"/>
              <a:chOff x="0" y="0"/>
              <a:chExt cx="2214252" cy="460578"/>
            </a:xfrm>
          </p:grpSpPr>
          <p:sp>
            <p:nvSpPr>
              <p:cNvPr id="27" name="Freeform 27"/>
              <p:cNvSpPr/>
              <p:nvPr/>
            </p:nvSpPr>
            <p:spPr>
              <a:xfrm>
                <a:off x="0" y="0"/>
                <a:ext cx="2214252" cy="460578"/>
              </a:xfrm>
              <a:custGeom>
                <a:avLst/>
                <a:gdLst/>
                <a:ahLst/>
                <a:cxnLst/>
                <a:rect l="l" t="t" r="r" b="b"/>
                <a:pathLst>
                  <a:path w="2214252" h="460578">
                    <a:moveTo>
                      <a:pt x="76430" y="0"/>
                    </a:moveTo>
                    <a:lnTo>
                      <a:pt x="2137822" y="0"/>
                    </a:lnTo>
                    <a:cubicBezTo>
                      <a:pt x="2158093" y="0"/>
                      <a:pt x="2177533" y="8052"/>
                      <a:pt x="2191866" y="22386"/>
                    </a:cubicBezTo>
                    <a:cubicBezTo>
                      <a:pt x="2206200" y="36719"/>
                      <a:pt x="2214252" y="56159"/>
                      <a:pt x="2214252" y="76430"/>
                    </a:cubicBezTo>
                    <a:lnTo>
                      <a:pt x="2214252" y="384149"/>
                    </a:lnTo>
                    <a:cubicBezTo>
                      <a:pt x="2214252" y="404419"/>
                      <a:pt x="2206200" y="423859"/>
                      <a:pt x="2191866" y="438193"/>
                    </a:cubicBezTo>
                    <a:cubicBezTo>
                      <a:pt x="2177533" y="452526"/>
                      <a:pt x="2158093" y="460578"/>
                      <a:pt x="2137822" y="460578"/>
                    </a:cubicBezTo>
                    <a:lnTo>
                      <a:pt x="76430" y="460578"/>
                    </a:lnTo>
                    <a:cubicBezTo>
                      <a:pt x="56159" y="460578"/>
                      <a:pt x="36719" y="452526"/>
                      <a:pt x="22386" y="438193"/>
                    </a:cubicBezTo>
                    <a:cubicBezTo>
                      <a:pt x="8052" y="423859"/>
                      <a:pt x="0" y="404419"/>
                      <a:pt x="0" y="384149"/>
                    </a:cubicBezTo>
                    <a:lnTo>
                      <a:pt x="0" y="76430"/>
                    </a:lnTo>
                    <a:cubicBezTo>
                      <a:pt x="0" y="56159"/>
                      <a:pt x="8052" y="36719"/>
                      <a:pt x="22386" y="22386"/>
                    </a:cubicBezTo>
                    <a:cubicBezTo>
                      <a:pt x="36719" y="8052"/>
                      <a:pt x="56159" y="0"/>
                      <a:pt x="76430" y="0"/>
                    </a:cubicBezTo>
                    <a:close/>
                  </a:path>
                </a:pathLst>
              </a:custGeom>
              <a:solidFill>
                <a:srgbClr val="FFFFFF">
                  <a:alpha val="4706"/>
                </a:srgbClr>
              </a:solidFill>
            </p:spPr>
          </p:sp>
          <p:sp>
            <p:nvSpPr>
              <p:cNvPr id="28" name="TextBox 28"/>
              <p:cNvSpPr txBox="1"/>
              <p:nvPr/>
            </p:nvSpPr>
            <p:spPr>
              <a:xfrm>
                <a:off x="0" y="-57150"/>
                <a:ext cx="2214252" cy="517728"/>
              </a:xfrm>
              <a:prstGeom prst="rect">
                <a:avLst/>
              </a:prstGeom>
            </p:spPr>
            <p:txBody>
              <a:bodyPr lIns="52257" tIns="52257" rIns="52257" bIns="52257" rtlCol="0" anchor="ctr"/>
              <a:lstStyle/>
              <a:p>
                <a:pPr algn="ctr">
                  <a:lnSpc>
                    <a:spcPts val="2660"/>
                  </a:lnSpc>
                  <a:spcBef>
                    <a:spcPct val="0"/>
                  </a:spcBef>
                </a:pPr>
                <a:endParaRPr/>
              </a:p>
            </p:txBody>
          </p:sp>
        </p:grpSp>
        <p:grpSp>
          <p:nvGrpSpPr>
            <p:cNvPr id="29" name="Group 29"/>
            <p:cNvGrpSpPr/>
            <p:nvPr/>
          </p:nvGrpSpPr>
          <p:grpSpPr>
            <a:xfrm>
              <a:off x="913621" y="596900"/>
              <a:ext cx="1050706" cy="1050706"/>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74681">
                      <a:alpha val="100000"/>
                    </a:srgbClr>
                  </a:gs>
                  <a:gs pos="100000">
                    <a:srgbClr val="1F1344">
                      <a:alpha val="100000"/>
                    </a:srgbClr>
                  </a:gs>
                </a:gsLst>
                <a:lin ang="2700000"/>
              </a:gradFill>
            </p:spPr>
          </p:sp>
          <p:sp>
            <p:nvSpPr>
              <p:cNvPr id="31" name="TextBox 31"/>
              <p:cNvSpPr txBox="1"/>
              <p:nvPr/>
            </p:nvSpPr>
            <p:spPr>
              <a:xfrm>
                <a:off x="76200" y="19050"/>
                <a:ext cx="660400" cy="717550"/>
              </a:xfrm>
              <a:prstGeom prst="rect">
                <a:avLst/>
              </a:prstGeom>
            </p:spPr>
            <p:txBody>
              <a:bodyPr lIns="50800" tIns="50800" rIns="50800" bIns="50800" rtlCol="0" anchor="ctr"/>
              <a:lstStyle/>
              <a:p>
                <a:pPr algn="ctr">
                  <a:lnSpc>
                    <a:spcPts val="2660"/>
                  </a:lnSpc>
                </a:pPr>
                <a:endParaRPr/>
              </a:p>
            </p:txBody>
          </p:sp>
        </p:grpSp>
        <p:sp>
          <p:nvSpPr>
            <p:cNvPr id="32" name="TextBox 32"/>
            <p:cNvSpPr txBox="1"/>
            <p:nvPr/>
          </p:nvSpPr>
          <p:spPr>
            <a:xfrm>
              <a:off x="2256564" y="877442"/>
              <a:ext cx="8107944" cy="435413"/>
            </a:xfrm>
            <a:prstGeom prst="rect">
              <a:avLst/>
            </a:prstGeom>
          </p:spPr>
          <p:txBody>
            <a:bodyPr lIns="0" tIns="0" rIns="0" bIns="0" rtlCol="0" anchor="t">
              <a:spAutoFit/>
            </a:bodyPr>
            <a:lstStyle/>
            <a:p>
              <a:pPr algn="l">
                <a:lnSpc>
                  <a:spcPts val="2276"/>
                </a:lnSpc>
              </a:pPr>
              <a:r>
                <a:rPr lang="en-US" sz="2276">
                  <a:solidFill>
                    <a:srgbClr val="FFFFFF"/>
                  </a:solidFill>
                  <a:latin typeface="Poppins"/>
                  <a:ea typeface="Poppins"/>
                  <a:cs typeface="Poppins"/>
                  <a:sym typeface="Poppins"/>
                </a:rPr>
                <a:t>Classifying Purchases</a:t>
              </a:r>
            </a:p>
          </p:txBody>
        </p:sp>
        <p:sp>
          <p:nvSpPr>
            <p:cNvPr id="33" name="TextBox 33"/>
            <p:cNvSpPr txBox="1"/>
            <p:nvPr/>
          </p:nvSpPr>
          <p:spPr>
            <a:xfrm>
              <a:off x="1164374" y="908050"/>
              <a:ext cx="549201" cy="439047"/>
            </a:xfrm>
            <a:prstGeom prst="rect">
              <a:avLst/>
            </a:prstGeom>
          </p:spPr>
          <p:txBody>
            <a:bodyPr lIns="0" tIns="0" rIns="0" bIns="0" rtlCol="0" anchor="t">
              <a:spAutoFit/>
            </a:bodyPr>
            <a:lstStyle/>
            <a:p>
              <a:pPr algn="ctr">
                <a:lnSpc>
                  <a:spcPts val="2276"/>
                </a:lnSpc>
              </a:pPr>
              <a:r>
                <a:rPr lang="en-US" sz="2276" b="1">
                  <a:solidFill>
                    <a:srgbClr val="FFFFFF"/>
                  </a:solidFill>
                  <a:latin typeface="Poppins Bold"/>
                  <a:ea typeface="Poppins Bold"/>
                  <a:cs typeface="Poppins Bold"/>
                  <a:sym typeface="Poppins Bold"/>
                </a:rPr>
                <a:t>03</a:t>
              </a:r>
            </a:p>
          </p:txBody>
        </p:sp>
      </p:grpSp>
      <p:sp>
        <p:nvSpPr>
          <p:cNvPr id="34" name="Freeform 34"/>
          <p:cNvSpPr/>
          <p:nvPr/>
        </p:nvSpPr>
        <p:spPr>
          <a:xfrm>
            <a:off x="1523048" y="1056279"/>
            <a:ext cx="665937" cy="385033"/>
          </a:xfrm>
          <a:custGeom>
            <a:avLst/>
            <a:gdLst/>
            <a:ahLst/>
            <a:cxnLst/>
            <a:rect l="l" t="t" r="r" b="b"/>
            <a:pathLst>
              <a:path w="665937" h="385033">
                <a:moveTo>
                  <a:pt x="0" y="0"/>
                </a:moveTo>
                <a:lnTo>
                  <a:pt x="665937" y="0"/>
                </a:lnTo>
                <a:lnTo>
                  <a:pt x="665937" y="385033"/>
                </a:lnTo>
                <a:lnTo>
                  <a:pt x="0" y="38503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5" name="AutoShape 35"/>
          <p:cNvSpPr/>
          <p:nvPr/>
        </p:nvSpPr>
        <p:spPr>
          <a:xfrm>
            <a:off x="2690042" y="1229745"/>
            <a:ext cx="7555869" cy="9525"/>
          </a:xfrm>
          <a:prstGeom prst="line">
            <a:avLst/>
          </a:prstGeom>
          <a:ln w="19050" cap="flat">
            <a:solidFill>
              <a:srgbClr val="4C4C4C"/>
            </a:solidFill>
            <a:prstDash val="solid"/>
            <a:headEnd type="none" w="sm" len="sm"/>
            <a:tailEnd type="none" w="sm" len="sm"/>
          </a:ln>
        </p:spPr>
      </p:sp>
      <p:grpSp>
        <p:nvGrpSpPr>
          <p:cNvPr id="36" name="Group 36"/>
          <p:cNvGrpSpPr/>
          <p:nvPr/>
        </p:nvGrpSpPr>
        <p:grpSpPr>
          <a:xfrm>
            <a:off x="8677859" y="7376286"/>
            <a:ext cx="8306167" cy="1759697"/>
            <a:chOff x="0" y="0"/>
            <a:chExt cx="11074890" cy="2346262"/>
          </a:xfrm>
        </p:grpSpPr>
        <p:grpSp>
          <p:nvGrpSpPr>
            <p:cNvPr id="37" name="Group 37"/>
            <p:cNvGrpSpPr/>
            <p:nvPr/>
          </p:nvGrpSpPr>
          <p:grpSpPr>
            <a:xfrm>
              <a:off x="0" y="0"/>
              <a:ext cx="11074890" cy="2346262"/>
              <a:chOff x="0" y="0"/>
              <a:chExt cx="2214252" cy="469099"/>
            </a:xfrm>
          </p:grpSpPr>
          <p:sp>
            <p:nvSpPr>
              <p:cNvPr id="38" name="Freeform 38"/>
              <p:cNvSpPr/>
              <p:nvPr/>
            </p:nvSpPr>
            <p:spPr>
              <a:xfrm>
                <a:off x="0" y="0"/>
                <a:ext cx="2214252" cy="469099"/>
              </a:xfrm>
              <a:custGeom>
                <a:avLst/>
                <a:gdLst/>
                <a:ahLst/>
                <a:cxnLst/>
                <a:rect l="l" t="t" r="r" b="b"/>
                <a:pathLst>
                  <a:path w="2214252" h="469099">
                    <a:moveTo>
                      <a:pt x="76430" y="0"/>
                    </a:moveTo>
                    <a:lnTo>
                      <a:pt x="2137822" y="0"/>
                    </a:lnTo>
                    <a:cubicBezTo>
                      <a:pt x="2158093" y="0"/>
                      <a:pt x="2177533" y="8052"/>
                      <a:pt x="2191866" y="22386"/>
                    </a:cubicBezTo>
                    <a:cubicBezTo>
                      <a:pt x="2206200" y="36719"/>
                      <a:pt x="2214252" y="56159"/>
                      <a:pt x="2214252" y="76430"/>
                    </a:cubicBezTo>
                    <a:lnTo>
                      <a:pt x="2214252" y="392669"/>
                    </a:lnTo>
                    <a:cubicBezTo>
                      <a:pt x="2214252" y="434880"/>
                      <a:pt x="2180033" y="469099"/>
                      <a:pt x="2137822" y="469099"/>
                    </a:cubicBezTo>
                    <a:lnTo>
                      <a:pt x="76430" y="469099"/>
                    </a:lnTo>
                    <a:cubicBezTo>
                      <a:pt x="56159" y="469099"/>
                      <a:pt x="36719" y="461046"/>
                      <a:pt x="22386" y="446713"/>
                    </a:cubicBezTo>
                    <a:cubicBezTo>
                      <a:pt x="8052" y="432380"/>
                      <a:pt x="0" y="412939"/>
                      <a:pt x="0" y="392669"/>
                    </a:cubicBezTo>
                    <a:lnTo>
                      <a:pt x="0" y="76430"/>
                    </a:lnTo>
                    <a:cubicBezTo>
                      <a:pt x="0" y="56159"/>
                      <a:pt x="8052" y="36719"/>
                      <a:pt x="22386" y="22386"/>
                    </a:cubicBezTo>
                    <a:cubicBezTo>
                      <a:pt x="36719" y="8052"/>
                      <a:pt x="56159" y="0"/>
                      <a:pt x="76430" y="0"/>
                    </a:cubicBezTo>
                    <a:close/>
                  </a:path>
                </a:pathLst>
              </a:custGeom>
              <a:solidFill>
                <a:srgbClr val="FFFFFF">
                  <a:alpha val="4706"/>
                </a:srgbClr>
              </a:solidFill>
            </p:spPr>
          </p:sp>
          <p:sp>
            <p:nvSpPr>
              <p:cNvPr id="39" name="TextBox 39"/>
              <p:cNvSpPr txBox="1"/>
              <p:nvPr/>
            </p:nvSpPr>
            <p:spPr>
              <a:xfrm>
                <a:off x="0" y="-57150"/>
                <a:ext cx="2214252" cy="526249"/>
              </a:xfrm>
              <a:prstGeom prst="rect">
                <a:avLst/>
              </a:prstGeom>
            </p:spPr>
            <p:txBody>
              <a:bodyPr lIns="52257" tIns="52257" rIns="52257" bIns="52257" rtlCol="0" anchor="ctr"/>
              <a:lstStyle/>
              <a:p>
                <a:pPr algn="ctr">
                  <a:lnSpc>
                    <a:spcPts val="2660"/>
                  </a:lnSpc>
                  <a:spcBef>
                    <a:spcPct val="0"/>
                  </a:spcBef>
                </a:pPr>
                <a:endParaRPr/>
              </a:p>
            </p:txBody>
          </p:sp>
        </p:grpSp>
        <p:grpSp>
          <p:nvGrpSpPr>
            <p:cNvPr id="40" name="Group 40"/>
            <p:cNvGrpSpPr/>
            <p:nvPr/>
          </p:nvGrpSpPr>
          <p:grpSpPr>
            <a:xfrm>
              <a:off x="913621" y="596900"/>
              <a:ext cx="1050706" cy="1050706"/>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74681">
                      <a:alpha val="100000"/>
                    </a:srgbClr>
                  </a:gs>
                  <a:gs pos="100000">
                    <a:srgbClr val="1F1344">
                      <a:alpha val="100000"/>
                    </a:srgbClr>
                  </a:gs>
                </a:gsLst>
                <a:lin ang="2700000"/>
              </a:gradFill>
            </p:spPr>
          </p:sp>
          <p:sp>
            <p:nvSpPr>
              <p:cNvPr id="42" name="TextBox 42"/>
              <p:cNvSpPr txBox="1"/>
              <p:nvPr/>
            </p:nvSpPr>
            <p:spPr>
              <a:xfrm>
                <a:off x="76200" y="19050"/>
                <a:ext cx="660400" cy="717550"/>
              </a:xfrm>
              <a:prstGeom prst="rect">
                <a:avLst/>
              </a:prstGeom>
            </p:spPr>
            <p:txBody>
              <a:bodyPr lIns="50800" tIns="50800" rIns="50800" bIns="50800" rtlCol="0" anchor="ctr"/>
              <a:lstStyle/>
              <a:p>
                <a:pPr algn="ctr">
                  <a:lnSpc>
                    <a:spcPts val="2660"/>
                  </a:lnSpc>
                </a:pPr>
                <a:endParaRPr/>
              </a:p>
            </p:txBody>
          </p:sp>
        </p:grpSp>
        <p:sp>
          <p:nvSpPr>
            <p:cNvPr id="43" name="TextBox 43"/>
            <p:cNvSpPr txBox="1"/>
            <p:nvPr/>
          </p:nvSpPr>
          <p:spPr>
            <a:xfrm>
              <a:off x="2256564" y="877442"/>
              <a:ext cx="8107944" cy="812779"/>
            </a:xfrm>
            <a:prstGeom prst="rect">
              <a:avLst/>
            </a:prstGeom>
          </p:spPr>
          <p:txBody>
            <a:bodyPr lIns="0" tIns="0" rIns="0" bIns="0" rtlCol="0" anchor="t">
              <a:spAutoFit/>
            </a:bodyPr>
            <a:lstStyle/>
            <a:p>
              <a:pPr algn="l">
                <a:lnSpc>
                  <a:spcPts val="2276"/>
                </a:lnSpc>
              </a:pPr>
              <a:r>
                <a:rPr lang="en-US" sz="2276">
                  <a:solidFill>
                    <a:srgbClr val="FFFFFF"/>
                  </a:solidFill>
                  <a:latin typeface="Poppins"/>
                  <a:ea typeface="Poppins"/>
                  <a:cs typeface="Poppins"/>
                  <a:sym typeface="Poppins"/>
                </a:rPr>
                <a:t>Can view purchases in lists designated for each classification</a:t>
              </a:r>
            </a:p>
          </p:txBody>
        </p:sp>
        <p:sp>
          <p:nvSpPr>
            <p:cNvPr id="44" name="TextBox 44"/>
            <p:cNvSpPr txBox="1"/>
            <p:nvPr/>
          </p:nvSpPr>
          <p:spPr>
            <a:xfrm>
              <a:off x="1164374" y="908050"/>
              <a:ext cx="549201" cy="439047"/>
            </a:xfrm>
            <a:prstGeom prst="rect">
              <a:avLst/>
            </a:prstGeom>
          </p:spPr>
          <p:txBody>
            <a:bodyPr lIns="0" tIns="0" rIns="0" bIns="0" rtlCol="0" anchor="t">
              <a:spAutoFit/>
            </a:bodyPr>
            <a:lstStyle/>
            <a:p>
              <a:pPr algn="ctr">
                <a:lnSpc>
                  <a:spcPts val="2276"/>
                </a:lnSpc>
              </a:pPr>
              <a:r>
                <a:rPr lang="en-US" sz="2276" b="1">
                  <a:solidFill>
                    <a:srgbClr val="FFFFFF"/>
                  </a:solidFill>
                  <a:latin typeface="Poppins Bold"/>
                  <a:ea typeface="Poppins Bold"/>
                  <a:cs typeface="Poppins Bold"/>
                  <a:sym typeface="Poppins Bold"/>
                </a:rPr>
                <a:t>04</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3194473" y="5267464"/>
            <a:ext cx="5216468" cy="5216468"/>
          </a:xfrm>
          <a:custGeom>
            <a:avLst/>
            <a:gdLst/>
            <a:ahLst/>
            <a:cxnLst/>
            <a:rect l="l" t="t" r="r" b="b"/>
            <a:pathLst>
              <a:path w="5216468" h="5216468">
                <a:moveTo>
                  <a:pt x="0" y="0"/>
                </a:moveTo>
                <a:lnTo>
                  <a:pt x="5216468" y="0"/>
                </a:lnTo>
                <a:lnTo>
                  <a:pt x="5216468" y="5216468"/>
                </a:lnTo>
                <a:lnTo>
                  <a:pt x="0" y="521646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185548" y="4879992"/>
            <a:ext cx="2214248" cy="2214248"/>
          </a:xfrm>
          <a:custGeom>
            <a:avLst/>
            <a:gdLst/>
            <a:ahLst/>
            <a:cxnLst/>
            <a:rect l="l" t="t" r="r" b="b"/>
            <a:pathLst>
              <a:path w="2214248" h="2214248">
                <a:moveTo>
                  <a:pt x="0" y="0"/>
                </a:moveTo>
                <a:lnTo>
                  <a:pt x="2214248" y="0"/>
                </a:lnTo>
                <a:lnTo>
                  <a:pt x="2214248" y="2214248"/>
                </a:lnTo>
                <a:lnTo>
                  <a:pt x="0" y="2214248"/>
                </a:lnTo>
                <a:lnTo>
                  <a:pt x="0" y="0"/>
                </a:lnTo>
                <a:close/>
              </a:path>
            </a:pathLst>
          </a:custGeom>
          <a:blipFill>
            <a:blip>
              <a:alphaModFix amt="98000"/>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266833" y="1122104"/>
            <a:ext cx="7877167" cy="1479197"/>
          </a:xfrm>
          <a:prstGeom prst="rect">
            <a:avLst/>
          </a:prstGeom>
        </p:spPr>
        <p:txBody>
          <a:bodyPr lIns="0" tIns="0" rIns="0" bIns="0" rtlCol="0" anchor="t">
            <a:spAutoFit/>
          </a:bodyPr>
          <a:lstStyle/>
          <a:p>
            <a:pPr algn="l">
              <a:lnSpc>
                <a:spcPts val="5114"/>
              </a:lnSpc>
            </a:pPr>
            <a:r>
              <a:rPr lang="en-US" sz="5114">
                <a:solidFill>
                  <a:srgbClr val="FFFFFF"/>
                </a:solidFill>
                <a:latin typeface="Agrandir Grand"/>
                <a:ea typeface="Agrandir Grand"/>
                <a:cs typeface="Agrandir Grand"/>
                <a:sym typeface="Agrandir Grand"/>
              </a:rPr>
              <a:t>PLANNED INPUTS AND OUTPUTS</a:t>
            </a:r>
          </a:p>
        </p:txBody>
      </p:sp>
      <p:grpSp>
        <p:nvGrpSpPr>
          <p:cNvPr id="5" name="Group 5"/>
          <p:cNvGrpSpPr/>
          <p:nvPr/>
        </p:nvGrpSpPr>
        <p:grpSpPr>
          <a:xfrm>
            <a:off x="634685" y="3475827"/>
            <a:ext cx="788030" cy="788030"/>
            <a:chOff x="0" y="0"/>
            <a:chExt cx="1050706" cy="1050706"/>
          </a:xfrm>
        </p:grpSpPr>
        <p:grpSp>
          <p:nvGrpSpPr>
            <p:cNvPr id="6" name="Group 6"/>
            <p:cNvGrpSpPr/>
            <p:nvPr/>
          </p:nvGrpSpPr>
          <p:grpSpPr>
            <a:xfrm>
              <a:off x="0" y="0"/>
              <a:ext cx="1050706" cy="1050706"/>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74681">
                      <a:alpha val="100000"/>
                    </a:srgbClr>
                  </a:gs>
                  <a:gs pos="100000">
                    <a:srgbClr val="1F1344">
                      <a:alpha val="100000"/>
                    </a:srgbClr>
                  </a:gs>
                </a:gsLst>
                <a:lin ang="2700000"/>
              </a:gradFill>
            </p:spPr>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2660"/>
                  </a:lnSpc>
                </a:pPr>
                <a:endParaRPr/>
              </a:p>
            </p:txBody>
          </p:sp>
        </p:grpSp>
        <p:sp>
          <p:nvSpPr>
            <p:cNvPr id="9" name="TextBox 9"/>
            <p:cNvSpPr txBox="1"/>
            <p:nvPr/>
          </p:nvSpPr>
          <p:spPr>
            <a:xfrm>
              <a:off x="250753" y="315355"/>
              <a:ext cx="549201" cy="439047"/>
            </a:xfrm>
            <a:prstGeom prst="rect">
              <a:avLst/>
            </a:prstGeom>
          </p:spPr>
          <p:txBody>
            <a:bodyPr lIns="0" tIns="0" rIns="0" bIns="0" rtlCol="0" anchor="t">
              <a:spAutoFit/>
            </a:bodyPr>
            <a:lstStyle/>
            <a:p>
              <a:pPr algn="ctr">
                <a:lnSpc>
                  <a:spcPts val="2276"/>
                </a:lnSpc>
              </a:pPr>
              <a:r>
                <a:rPr lang="en-US" sz="2276" b="1">
                  <a:solidFill>
                    <a:srgbClr val="FFFFFF"/>
                  </a:solidFill>
                  <a:latin typeface="Poppins Bold"/>
                  <a:ea typeface="Poppins Bold"/>
                  <a:cs typeface="Poppins Bold"/>
                  <a:sym typeface="Poppins Bold"/>
                </a:rPr>
                <a:t>01</a:t>
              </a:r>
            </a:p>
          </p:txBody>
        </p:sp>
      </p:grpSp>
      <p:sp>
        <p:nvSpPr>
          <p:cNvPr id="10" name="TextBox 10"/>
          <p:cNvSpPr txBox="1"/>
          <p:nvPr/>
        </p:nvSpPr>
        <p:spPr>
          <a:xfrm>
            <a:off x="1507118" y="3518498"/>
            <a:ext cx="4865662" cy="5219582"/>
          </a:xfrm>
          <a:prstGeom prst="rect">
            <a:avLst/>
          </a:prstGeom>
        </p:spPr>
        <p:txBody>
          <a:bodyPr lIns="0" tIns="0" rIns="0" bIns="0" rtlCol="0" anchor="t">
            <a:spAutoFit/>
          </a:bodyPr>
          <a:lstStyle/>
          <a:p>
            <a:pPr algn="l">
              <a:lnSpc>
                <a:spcPts val="2620"/>
              </a:lnSpc>
            </a:pPr>
            <a:r>
              <a:rPr lang="en-US" sz="2620">
                <a:solidFill>
                  <a:srgbClr val="FFFFFF"/>
                </a:solidFill>
                <a:latin typeface="Poppins"/>
                <a:ea typeface="Poppins"/>
                <a:cs typeface="Poppins"/>
                <a:sym typeface="Poppins"/>
              </a:rPr>
              <a:t>When you want to put money into your .</a:t>
            </a:r>
          </a:p>
          <a:p>
            <a:pPr marL="565730" lvl="1" indent="-282865" algn="l">
              <a:lnSpc>
                <a:spcPts val="2620"/>
              </a:lnSpc>
              <a:buFont typeface="Arial"/>
              <a:buChar char="•"/>
            </a:pPr>
            <a:r>
              <a:rPr lang="en-US" sz="2620">
                <a:solidFill>
                  <a:srgbClr val="FFFFFF"/>
                </a:solidFill>
                <a:latin typeface="Poppins"/>
                <a:ea typeface="Poppins"/>
                <a:cs typeface="Poppins"/>
                <a:sym typeface="Poppins"/>
              </a:rPr>
              <a:t>User Types: 100</a:t>
            </a:r>
          </a:p>
          <a:p>
            <a:pPr marL="565730" lvl="1" indent="-282865" algn="l">
              <a:lnSpc>
                <a:spcPts val="2620"/>
              </a:lnSpc>
              <a:buFont typeface="Arial"/>
              <a:buChar char="•"/>
            </a:pPr>
            <a:r>
              <a:rPr lang="en-US" sz="2620">
                <a:solidFill>
                  <a:srgbClr val="FFFFFF"/>
                </a:solidFill>
                <a:latin typeface="Poppins"/>
                <a:ea typeface="Poppins"/>
                <a:cs typeface="Poppins"/>
                <a:sym typeface="Poppins"/>
              </a:rPr>
              <a:t>User Clicks: "Deposit"</a:t>
            </a:r>
          </a:p>
          <a:p>
            <a:pPr marL="565730" lvl="1" indent="-282865" algn="l">
              <a:lnSpc>
                <a:spcPts val="2620"/>
              </a:lnSpc>
              <a:buFont typeface="Arial"/>
              <a:buChar char="•"/>
            </a:pPr>
            <a:r>
              <a:rPr lang="en-US" sz="2620">
                <a:solidFill>
                  <a:srgbClr val="FFFFFF"/>
                </a:solidFill>
                <a:latin typeface="Poppins"/>
                <a:ea typeface="Poppins"/>
                <a:cs typeface="Poppins"/>
                <a:sym typeface="Poppins"/>
              </a:rPr>
              <a:t>The Request (Sending): "Hey Flask, please add 100 to the total."</a:t>
            </a:r>
          </a:p>
          <a:p>
            <a:pPr marL="565730" lvl="1" indent="-282865" algn="l">
              <a:lnSpc>
                <a:spcPts val="2620"/>
              </a:lnSpc>
              <a:buFont typeface="Arial"/>
              <a:buChar char="•"/>
            </a:pPr>
            <a:r>
              <a:rPr lang="en-US" sz="2620">
                <a:solidFill>
                  <a:srgbClr val="FFFFFF"/>
                </a:solidFill>
                <a:latin typeface="Poppins"/>
                <a:ea typeface="Poppins"/>
                <a:cs typeface="Poppins"/>
                <a:sym typeface="Poppins"/>
              </a:rPr>
              <a:t>The Response (Receiving): "Got it! The new balance is now 100.00."</a:t>
            </a:r>
          </a:p>
          <a:p>
            <a:pPr marL="565730" lvl="1" indent="-282865" algn="l">
              <a:lnSpc>
                <a:spcPts val="2620"/>
              </a:lnSpc>
              <a:buFont typeface="Arial"/>
              <a:buChar char="•"/>
            </a:pPr>
            <a:r>
              <a:rPr lang="en-US" sz="2620">
                <a:solidFill>
                  <a:srgbClr val="FFFFFF"/>
                </a:solidFill>
                <a:latin typeface="Poppins"/>
                <a:ea typeface="Poppins"/>
                <a:cs typeface="Poppins"/>
                <a:sym typeface="Poppins"/>
              </a:rPr>
              <a:t>What you see: The big green number on the screen changes to $100.00.</a:t>
            </a:r>
          </a:p>
          <a:p>
            <a:pPr algn="l">
              <a:lnSpc>
                <a:spcPts val="2620"/>
              </a:lnSpc>
            </a:pPr>
            <a:endParaRPr lang="en-US" sz="2620">
              <a:solidFill>
                <a:srgbClr val="FFFFFF"/>
              </a:solidFill>
              <a:latin typeface="Poppins"/>
              <a:ea typeface="Poppins"/>
              <a:cs typeface="Poppins"/>
              <a:sym typeface="Poppins"/>
            </a:endParaRPr>
          </a:p>
        </p:txBody>
      </p:sp>
      <p:grpSp>
        <p:nvGrpSpPr>
          <p:cNvPr id="11" name="Group 11"/>
          <p:cNvGrpSpPr/>
          <p:nvPr/>
        </p:nvGrpSpPr>
        <p:grpSpPr>
          <a:xfrm>
            <a:off x="6372780" y="3489923"/>
            <a:ext cx="788030" cy="788030"/>
            <a:chOff x="0" y="0"/>
            <a:chExt cx="1050706" cy="1050706"/>
          </a:xfrm>
        </p:grpSpPr>
        <p:grpSp>
          <p:nvGrpSpPr>
            <p:cNvPr id="12" name="Group 12"/>
            <p:cNvGrpSpPr/>
            <p:nvPr/>
          </p:nvGrpSpPr>
          <p:grpSpPr>
            <a:xfrm>
              <a:off x="0" y="0"/>
              <a:ext cx="1050706" cy="1050706"/>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74681">
                      <a:alpha val="100000"/>
                    </a:srgbClr>
                  </a:gs>
                  <a:gs pos="100000">
                    <a:srgbClr val="1F1344">
                      <a:alpha val="100000"/>
                    </a:srgbClr>
                  </a:gs>
                </a:gsLst>
                <a:lin ang="2700000"/>
              </a:gradFill>
            </p:spPr>
          </p:sp>
          <p:sp>
            <p:nvSpPr>
              <p:cNvPr id="14" name="TextBox 14"/>
              <p:cNvSpPr txBox="1"/>
              <p:nvPr/>
            </p:nvSpPr>
            <p:spPr>
              <a:xfrm>
                <a:off x="76200" y="19050"/>
                <a:ext cx="660400" cy="717550"/>
              </a:xfrm>
              <a:prstGeom prst="rect">
                <a:avLst/>
              </a:prstGeom>
            </p:spPr>
            <p:txBody>
              <a:bodyPr lIns="50800" tIns="50800" rIns="50800" bIns="50800" rtlCol="0" anchor="ctr"/>
              <a:lstStyle/>
              <a:p>
                <a:pPr algn="ctr">
                  <a:lnSpc>
                    <a:spcPts val="2660"/>
                  </a:lnSpc>
                </a:pPr>
                <a:endParaRPr/>
              </a:p>
            </p:txBody>
          </p:sp>
        </p:grpSp>
        <p:sp>
          <p:nvSpPr>
            <p:cNvPr id="15" name="TextBox 15"/>
            <p:cNvSpPr txBox="1"/>
            <p:nvPr/>
          </p:nvSpPr>
          <p:spPr>
            <a:xfrm>
              <a:off x="250753" y="315355"/>
              <a:ext cx="549201" cy="439047"/>
            </a:xfrm>
            <a:prstGeom prst="rect">
              <a:avLst/>
            </a:prstGeom>
          </p:spPr>
          <p:txBody>
            <a:bodyPr lIns="0" tIns="0" rIns="0" bIns="0" rtlCol="0" anchor="t">
              <a:spAutoFit/>
            </a:bodyPr>
            <a:lstStyle/>
            <a:p>
              <a:pPr algn="ctr">
                <a:lnSpc>
                  <a:spcPts val="2276"/>
                </a:lnSpc>
              </a:pPr>
              <a:r>
                <a:rPr lang="en-US" sz="2276" b="1">
                  <a:solidFill>
                    <a:srgbClr val="FFFFFF"/>
                  </a:solidFill>
                  <a:latin typeface="Poppins Bold"/>
                  <a:ea typeface="Poppins Bold"/>
                  <a:cs typeface="Poppins Bold"/>
                  <a:sym typeface="Poppins Bold"/>
                </a:rPr>
                <a:t>02</a:t>
              </a:r>
            </a:p>
          </p:txBody>
        </p:sp>
      </p:grpSp>
      <p:sp>
        <p:nvSpPr>
          <p:cNvPr id="16" name="Freeform 16"/>
          <p:cNvSpPr/>
          <p:nvPr/>
        </p:nvSpPr>
        <p:spPr>
          <a:xfrm>
            <a:off x="1420562" y="643667"/>
            <a:ext cx="665937" cy="385033"/>
          </a:xfrm>
          <a:custGeom>
            <a:avLst/>
            <a:gdLst/>
            <a:ahLst/>
            <a:cxnLst/>
            <a:rect l="l" t="t" r="r" b="b"/>
            <a:pathLst>
              <a:path w="665937" h="385033">
                <a:moveTo>
                  <a:pt x="0" y="0"/>
                </a:moveTo>
                <a:lnTo>
                  <a:pt x="665937" y="0"/>
                </a:lnTo>
                <a:lnTo>
                  <a:pt x="665937" y="385033"/>
                </a:lnTo>
                <a:lnTo>
                  <a:pt x="0" y="38503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7" name="AutoShape 17"/>
          <p:cNvSpPr/>
          <p:nvPr/>
        </p:nvSpPr>
        <p:spPr>
          <a:xfrm>
            <a:off x="2977027" y="831421"/>
            <a:ext cx="7555869" cy="9525"/>
          </a:xfrm>
          <a:prstGeom prst="line">
            <a:avLst/>
          </a:prstGeom>
          <a:ln w="19050" cap="flat">
            <a:solidFill>
              <a:srgbClr val="4C4C4C"/>
            </a:solidFill>
            <a:prstDash val="solid"/>
            <a:headEnd type="none" w="sm" len="sm"/>
            <a:tailEnd type="none" w="sm" len="sm"/>
          </a:ln>
        </p:spPr>
      </p:sp>
      <p:sp>
        <p:nvSpPr>
          <p:cNvPr id="18" name="TextBox 18"/>
          <p:cNvSpPr txBox="1"/>
          <p:nvPr/>
        </p:nvSpPr>
        <p:spPr>
          <a:xfrm>
            <a:off x="1039448" y="2506052"/>
            <a:ext cx="2151340" cy="591385"/>
          </a:xfrm>
          <a:prstGeom prst="rect">
            <a:avLst/>
          </a:prstGeom>
        </p:spPr>
        <p:txBody>
          <a:bodyPr lIns="0" tIns="0" rIns="0" bIns="0" rtlCol="0" anchor="t">
            <a:spAutoFit/>
          </a:bodyPr>
          <a:lstStyle/>
          <a:p>
            <a:pPr algn="ctr">
              <a:lnSpc>
                <a:spcPts val="4628"/>
              </a:lnSpc>
              <a:spcBef>
                <a:spcPct val="0"/>
              </a:spcBef>
            </a:pPr>
            <a:r>
              <a:rPr lang="en-US" sz="3306">
                <a:solidFill>
                  <a:srgbClr val="FFFFFF"/>
                </a:solidFill>
                <a:latin typeface="Poppins"/>
                <a:ea typeface="Poppins"/>
                <a:cs typeface="Poppins"/>
                <a:sym typeface="Poppins"/>
              </a:rPr>
              <a:t>Scenarios:</a:t>
            </a:r>
          </a:p>
        </p:txBody>
      </p:sp>
      <p:sp>
        <p:nvSpPr>
          <p:cNvPr id="19" name="TextBox 19"/>
          <p:cNvSpPr txBox="1"/>
          <p:nvPr/>
        </p:nvSpPr>
        <p:spPr>
          <a:xfrm>
            <a:off x="7781538" y="3413723"/>
            <a:ext cx="5853039" cy="6023573"/>
          </a:xfrm>
          <a:prstGeom prst="rect">
            <a:avLst/>
          </a:prstGeom>
        </p:spPr>
        <p:txBody>
          <a:bodyPr lIns="0" tIns="0" rIns="0" bIns="0" rtlCol="0" anchor="t">
            <a:spAutoFit/>
          </a:bodyPr>
          <a:lstStyle/>
          <a:p>
            <a:pPr algn="ctr">
              <a:lnSpc>
                <a:spcPts val="3425"/>
              </a:lnSpc>
              <a:spcBef>
                <a:spcPct val="0"/>
              </a:spcBef>
            </a:pPr>
            <a:r>
              <a:rPr lang="en-US" sz="2446">
                <a:solidFill>
                  <a:srgbClr val="FFFFFF"/>
                </a:solidFill>
                <a:latin typeface="Poppins"/>
                <a:ea typeface="Poppins"/>
                <a:cs typeface="Poppins"/>
                <a:sym typeface="Poppins"/>
              </a:rPr>
              <a:t>When you want to see your list of items.</a:t>
            </a:r>
          </a:p>
          <a:p>
            <a:pPr marL="528184" lvl="1" indent="-264092" algn="ctr">
              <a:lnSpc>
                <a:spcPts val="3425"/>
              </a:lnSpc>
              <a:spcBef>
                <a:spcPct val="0"/>
              </a:spcBef>
              <a:buFont typeface="Arial"/>
              <a:buChar char="•"/>
            </a:pPr>
            <a:r>
              <a:rPr lang="en-US" sz="2446">
                <a:solidFill>
                  <a:srgbClr val="FFFFFF"/>
                </a:solidFill>
                <a:latin typeface="Poppins"/>
                <a:ea typeface="Poppins"/>
                <a:cs typeface="Poppins"/>
                <a:sym typeface="Poppins"/>
              </a:rPr>
              <a:t>User Selects: "Food" from the list</a:t>
            </a:r>
          </a:p>
          <a:p>
            <a:pPr marL="528184" lvl="1" indent="-264092" algn="ctr">
              <a:lnSpc>
                <a:spcPts val="3425"/>
              </a:lnSpc>
              <a:spcBef>
                <a:spcPct val="0"/>
              </a:spcBef>
              <a:buFont typeface="Arial"/>
              <a:buChar char="•"/>
            </a:pPr>
            <a:r>
              <a:rPr lang="en-US" sz="2446">
                <a:solidFill>
                  <a:srgbClr val="FFFFFF"/>
                </a:solidFill>
                <a:latin typeface="Poppins"/>
                <a:ea typeface="Poppins"/>
                <a:cs typeface="Poppins"/>
                <a:sym typeface="Poppins"/>
              </a:rPr>
              <a:t>The Request (Sending): "Flask, show me everything inside the 'Food' box."</a:t>
            </a:r>
          </a:p>
          <a:p>
            <a:pPr marL="528184" lvl="1" indent="-264092" algn="ctr">
              <a:lnSpc>
                <a:spcPts val="3425"/>
              </a:lnSpc>
              <a:spcBef>
                <a:spcPct val="0"/>
              </a:spcBef>
              <a:buFont typeface="Arial"/>
              <a:buChar char="•"/>
            </a:pPr>
            <a:r>
              <a:rPr lang="en-US" sz="2446">
                <a:solidFill>
                  <a:srgbClr val="FFFFFF"/>
                </a:solidFill>
                <a:latin typeface="Poppins"/>
                <a:ea typeface="Poppins"/>
                <a:cs typeface="Poppins"/>
                <a:sym typeface="Poppins"/>
              </a:rPr>
              <a:t>The Response (Receiving): ["Pizza", "Burger", "Fries"]</a:t>
            </a:r>
          </a:p>
          <a:p>
            <a:pPr marL="528184" lvl="1" indent="-264092" algn="ctr">
              <a:lnSpc>
                <a:spcPts val="3425"/>
              </a:lnSpc>
              <a:spcBef>
                <a:spcPct val="0"/>
              </a:spcBef>
              <a:buFont typeface="Arial"/>
              <a:buChar char="•"/>
            </a:pPr>
            <a:r>
              <a:rPr lang="en-US" sz="2446">
                <a:solidFill>
                  <a:srgbClr val="FFFFFF"/>
                </a:solidFill>
                <a:latin typeface="Poppins"/>
                <a:ea typeface="Poppins"/>
                <a:cs typeface="Poppins"/>
                <a:sym typeface="Poppins"/>
              </a:rPr>
              <a:t>What you see: A list appears on your screen:</a:t>
            </a:r>
          </a:p>
          <a:p>
            <a:pPr marL="1056369" lvl="2" indent="-352123" algn="ctr">
              <a:lnSpc>
                <a:spcPts val="3425"/>
              </a:lnSpc>
              <a:spcBef>
                <a:spcPct val="0"/>
              </a:spcBef>
              <a:buFont typeface="Arial"/>
              <a:buChar char="⚬"/>
            </a:pPr>
            <a:r>
              <a:rPr lang="en-US" sz="2446">
                <a:solidFill>
                  <a:srgbClr val="FFFFFF"/>
                </a:solidFill>
                <a:latin typeface="Poppins"/>
                <a:ea typeface="Poppins"/>
                <a:cs typeface="Poppins"/>
                <a:sym typeface="Poppins"/>
              </a:rPr>
              <a:t>Pizza</a:t>
            </a:r>
          </a:p>
          <a:p>
            <a:pPr marL="1056369" lvl="2" indent="-352123" algn="ctr">
              <a:lnSpc>
                <a:spcPts val="3425"/>
              </a:lnSpc>
              <a:spcBef>
                <a:spcPct val="0"/>
              </a:spcBef>
              <a:buFont typeface="Arial"/>
              <a:buChar char="⚬"/>
            </a:pPr>
            <a:r>
              <a:rPr lang="en-US" sz="2446">
                <a:solidFill>
                  <a:srgbClr val="FFFFFF"/>
                </a:solidFill>
                <a:latin typeface="Poppins"/>
                <a:ea typeface="Poppins"/>
                <a:cs typeface="Poppins"/>
                <a:sym typeface="Poppins"/>
              </a:rPr>
              <a:t>Burger</a:t>
            </a:r>
          </a:p>
          <a:p>
            <a:pPr marL="1056369" lvl="2" indent="-352123" algn="ctr">
              <a:lnSpc>
                <a:spcPts val="3425"/>
              </a:lnSpc>
              <a:spcBef>
                <a:spcPct val="0"/>
              </a:spcBef>
              <a:buFont typeface="Arial"/>
              <a:buChar char="⚬"/>
            </a:pPr>
            <a:r>
              <a:rPr lang="en-US" sz="2446">
                <a:solidFill>
                  <a:srgbClr val="FFFFFF"/>
                </a:solidFill>
                <a:latin typeface="Poppins"/>
                <a:ea typeface="Poppins"/>
                <a:cs typeface="Poppins"/>
                <a:sym typeface="Poppins"/>
              </a:rPr>
              <a:t>Fries</a:t>
            </a:r>
          </a:p>
          <a:p>
            <a:pPr algn="ctr">
              <a:lnSpc>
                <a:spcPts val="3425"/>
              </a:lnSpc>
              <a:spcBef>
                <a:spcPct val="0"/>
              </a:spcBef>
            </a:pPr>
            <a:endParaRPr lang="en-US" sz="2446">
              <a:solidFill>
                <a:srgbClr val="FFFFFF"/>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274744" y="4603422"/>
            <a:ext cx="2445367" cy="2445367"/>
          </a:xfrm>
          <a:custGeom>
            <a:avLst/>
            <a:gdLst/>
            <a:ahLst/>
            <a:cxnLst/>
            <a:rect l="l" t="t" r="r" b="b"/>
            <a:pathLst>
              <a:path w="2445367" h="2445367">
                <a:moveTo>
                  <a:pt x="0" y="0"/>
                </a:moveTo>
                <a:lnTo>
                  <a:pt x="2445367" y="0"/>
                </a:lnTo>
                <a:lnTo>
                  <a:pt x="2445367" y="2445367"/>
                </a:lnTo>
                <a:lnTo>
                  <a:pt x="0" y="244536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523048" y="1412096"/>
            <a:ext cx="665937" cy="385033"/>
          </a:xfrm>
          <a:custGeom>
            <a:avLst/>
            <a:gdLst/>
            <a:ahLst/>
            <a:cxnLst/>
            <a:rect l="l" t="t" r="r" b="b"/>
            <a:pathLst>
              <a:path w="665937" h="385033">
                <a:moveTo>
                  <a:pt x="0" y="0"/>
                </a:moveTo>
                <a:lnTo>
                  <a:pt x="665937" y="0"/>
                </a:lnTo>
                <a:lnTo>
                  <a:pt x="665937" y="385032"/>
                </a:lnTo>
                <a:lnTo>
                  <a:pt x="0" y="38503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AutoShape 4"/>
          <p:cNvSpPr/>
          <p:nvPr/>
        </p:nvSpPr>
        <p:spPr>
          <a:xfrm>
            <a:off x="2965365" y="1599850"/>
            <a:ext cx="7555869" cy="9525"/>
          </a:xfrm>
          <a:prstGeom prst="line">
            <a:avLst/>
          </a:prstGeom>
          <a:ln w="19050" cap="flat">
            <a:solidFill>
              <a:srgbClr val="4C4C4C"/>
            </a:solidFill>
            <a:prstDash val="solid"/>
            <a:headEnd type="none" w="sm" len="sm"/>
            <a:tailEnd type="none" w="sm" len="sm"/>
          </a:ln>
        </p:spPr>
      </p:sp>
      <p:sp>
        <p:nvSpPr>
          <p:cNvPr id="5" name="TextBox 5"/>
          <p:cNvSpPr txBox="1"/>
          <p:nvPr/>
        </p:nvSpPr>
        <p:spPr>
          <a:xfrm>
            <a:off x="1292776" y="1901465"/>
            <a:ext cx="15241903" cy="976047"/>
          </a:xfrm>
          <a:prstGeom prst="rect">
            <a:avLst/>
          </a:prstGeom>
        </p:spPr>
        <p:txBody>
          <a:bodyPr lIns="0" tIns="0" rIns="0" bIns="0" rtlCol="0" anchor="t">
            <a:spAutoFit/>
          </a:bodyPr>
          <a:lstStyle/>
          <a:p>
            <a:pPr algn="l">
              <a:lnSpc>
                <a:spcPts val="6056"/>
              </a:lnSpc>
            </a:pPr>
            <a:r>
              <a:rPr lang="en-US" sz="6056">
                <a:solidFill>
                  <a:srgbClr val="FFFFFF"/>
                </a:solidFill>
                <a:latin typeface="Agrandir Grand"/>
                <a:ea typeface="Agrandir Grand"/>
                <a:cs typeface="Agrandir Grand"/>
                <a:sym typeface="Agrandir Grand"/>
              </a:rPr>
              <a:t>PROCESS FLOW:</a:t>
            </a:r>
          </a:p>
        </p:txBody>
      </p:sp>
      <p:grpSp>
        <p:nvGrpSpPr>
          <p:cNvPr id="6" name="Group 6"/>
          <p:cNvGrpSpPr/>
          <p:nvPr/>
        </p:nvGrpSpPr>
        <p:grpSpPr>
          <a:xfrm>
            <a:off x="879543" y="3477572"/>
            <a:ext cx="643505" cy="604670"/>
            <a:chOff x="0" y="0"/>
            <a:chExt cx="858007" cy="806227"/>
          </a:xfrm>
        </p:grpSpPr>
        <p:grpSp>
          <p:nvGrpSpPr>
            <p:cNvPr id="7" name="Group 7"/>
            <p:cNvGrpSpPr/>
            <p:nvPr/>
          </p:nvGrpSpPr>
          <p:grpSpPr>
            <a:xfrm>
              <a:off x="0" y="0"/>
              <a:ext cx="858007" cy="806227"/>
              <a:chOff x="0" y="0"/>
              <a:chExt cx="865002" cy="812800"/>
            </a:xfrm>
          </p:grpSpPr>
          <p:sp>
            <p:nvSpPr>
              <p:cNvPr id="8" name="Freeform 8"/>
              <p:cNvSpPr/>
              <p:nvPr/>
            </p:nvSpPr>
            <p:spPr>
              <a:xfrm>
                <a:off x="0" y="0"/>
                <a:ext cx="865002" cy="812800"/>
              </a:xfrm>
              <a:custGeom>
                <a:avLst/>
                <a:gdLst/>
                <a:ahLst/>
                <a:cxnLst/>
                <a:rect l="l" t="t" r="r" b="b"/>
                <a:pathLst>
                  <a:path w="865002" h="812800">
                    <a:moveTo>
                      <a:pt x="432501" y="0"/>
                    </a:moveTo>
                    <a:cubicBezTo>
                      <a:pt x="193637" y="0"/>
                      <a:pt x="0" y="181951"/>
                      <a:pt x="0" y="406400"/>
                    </a:cubicBezTo>
                    <a:cubicBezTo>
                      <a:pt x="0" y="630849"/>
                      <a:pt x="193637" y="812800"/>
                      <a:pt x="432501" y="812800"/>
                    </a:cubicBezTo>
                    <a:cubicBezTo>
                      <a:pt x="671365" y="812800"/>
                      <a:pt x="865002" y="630849"/>
                      <a:pt x="865002" y="406400"/>
                    </a:cubicBezTo>
                    <a:cubicBezTo>
                      <a:pt x="865002" y="181951"/>
                      <a:pt x="671365" y="0"/>
                      <a:pt x="432501" y="0"/>
                    </a:cubicBezTo>
                    <a:close/>
                  </a:path>
                </a:pathLst>
              </a:custGeom>
              <a:gradFill rotWithShape="1">
                <a:gsLst>
                  <a:gs pos="0">
                    <a:srgbClr val="974681">
                      <a:alpha val="100000"/>
                    </a:srgbClr>
                  </a:gs>
                  <a:gs pos="100000">
                    <a:srgbClr val="1F1344">
                      <a:alpha val="100000"/>
                    </a:srgbClr>
                  </a:gs>
                </a:gsLst>
                <a:lin ang="2700000"/>
              </a:gradFill>
            </p:spPr>
          </p:sp>
          <p:sp>
            <p:nvSpPr>
              <p:cNvPr id="9" name="TextBox 9"/>
              <p:cNvSpPr txBox="1"/>
              <p:nvPr/>
            </p:nvSpPr>
            <p:spPr>
              <a:xfrm>
                <a:off x="81094" y="19050"/>
                <a:ext cx="702814" cy="717550"/>
              </a:xfrm>
              <a:prstGeom prst="rect">
                <a:avLst/>
              </a:prstGeom>
            </p:spPr>
            <p:txBody>
              <a:bodyPr lIns="50800" tIns="50800" rIns="50800" bIns="50800" rtlCol="0" anchor="ctr"/>
              <a:lstStyle/>
              <a:p>
                <a:pPr algn="ctr">
                  <a:lnSpc>
                    <a:spcPts val="2660"/>
                  </a:lnSpc>
                </a:pPr>
                <a:endParaRPr/>
              </a:p>
            </p:txBody>
          </p:sp>
        </p:grpSp>
        <p:sp>
          <p:nvSpPr>
            <p:cNvPr id="10" name="TextBox 10"/>
            <p:cNvSpPr txBox="1"/>
            <p:nvPr/>
          </p:nvSpPr>
          <p:spPr>
            <a:xfrm>
              <a:off x="204765" y="246410"/>
              <a:ext cx="448478" cy="332457"/>
            </a:xfrm>
            <a:prstGeom prst="rect">
              <a:avLst/>
            </a:prstGeom>
          </p:spPr>
          <p:txBody>
            <a:bodyPr lIns="0" tIns="0" rIns="0" bIns="0" rtlCol="0" anchor="t">
              <a:spAutoFit/>
            </a:bodyPr>
            <a:lstStyle/>
            <a:p>
              <a:pPr algn="ctr">
                <a:lnSpc>
                  <a:spcPts val="1746"/>
                </a:lnSpc>
              </a:pPr>
              <a:r>
                <a:rPr lang="en-US" sz="1746" b="1">
                  <a:solidFill>
                    <a:srgbClr val="FFFFFF"/>
                  </a:solidFill>
                  <a:latin typeface="Poppins Bold"/>
                  <a:ea typeface="Poppins Bold"/>
                  <a:cs typeface="Poppins Bold"/>
                  <a:sym typeface="Poppins Bold"/>
                </a:rPr>
                <a:t>01</a:t>
              </a:r>
            </a:p>
          </p:txBody>
        </p:sp>
      </p:grpSp>
      <p:grpSp>
        <p:nvGrpSpPr>
          <p:cNvPr id="11" name="Group 11"/>
          <p:cNvGrpSpPr/>
          <p:nvPr/>
        </p:nvGrpSpPr>
        <p:grpSpPr>
          <a:xfrm>
            <a:off x="9144000" y="5695935"/>
            <a:ext cx="643505" cy="604670"/>
            <a:chOff x="0" y="0"/>
            <a:chExt cx="858007" cy="806227"/>
          </a:xfrm>
        </p:grpSpPr>
        <p:grpSp>
          <p:nvGrpSpPr>
            <p:cNvPr id="12" name="Group 12"/>
            <p:cNvGrpSpPr/>
            <p:nvPr/>
          </p:nvGrpSpPr>
          <p:grpSpPr>
            <a:xfrm>
              <a:off x="0" y="0"/>
              <a:ext cx="858007" cy="806227"/>
              <a:chOff x="0" y="0"/>
              <a:chExt cx="865002" cy="812800"/>
            </a:xfrm>
          </p:grpSpPr>
          <p:sp>
            <p:nvSpPr>
              <p:cNvPr id="13" name="Freeform 13"/>
              <p:cNvSpPr/>
              <p:nvPr/>
            </p:nvSpPr>
            <p:spPr>
              <a:xfrm>
                <a:off x="0" y="0"/>
                <a:ext cx="865002" cy="812800"/>
              </a:xfrm>
              <a:custGeom>
                <a:avLst/>
                <a:gdLst/>
                <a:ahLst/>
                <a:cxnLst/>
                <a:rect l="l" t="t" r="r" b="b"/>
                <a:pathLst>
                  <a:path w="865002" h="812800">
                    <a:moveTo>
                      <a:pt x="432501" y="0"/>
                    </a:moveTo>
                    <a:cubicBezTo>
                      <a:pt x="193637" y="0"/>
                      <a:pt x="0" y="181951"/>
                      <a:pt x="0" y="406400"/>
                    </a:cubicBezTo>
                    <a:cubicBezTo>
                      <a:pt x="0" y="630849"/>
                      <a:pt x="193637" y="812800"/>
                      <a:pt x="432501" y="812800"/>
                    </a:cubicBezTo>
                    <a:cubicBezTo>
                      <a:pt x="671365" y="812800"/>
                      <a:pt x="865002" y="630849"/>
                      <a:pt x="865002" y="406400"/>
                    </a:cubicBezTo>
                    <a:cubicBezTo>
                      <a:pt x="865002" y="181951"/>
                      <a:pt x="671365" y="0"/>
                      <a:pt x="432501" y="0"/>
                    </a:cubicBezTo>
                    <a:close/>
                  </a:path>
                </a:pathLst>
              </a:custGeom>
              <a:gradFill rotWithShape="1">
                <a:gsLst>
                  <a:gs pos="0">
                    <a:srgbClr val="974681">
                      <a:alpha val="100000"/>
                    </a:srgbClr>
                  </a:gs>
                  <a:gs pos="100000">
                    <a:srgbClr val="1F1344">
                      <a:alpha val="100000"/>
                    </a:srgbClr>
                  </a:gs>
                </a:gsLst>
                <a:lin ang="2700000"/>
              </a:gradFill>
            </p:spPr>
          </p:sp>
          <p:sp>
            <p:nvSpPr>
              <p:cNvPr id="14" name="TextBox 14"/>
              <p:cNvSpPr txBox="1"/>
              <p:nvPr/>
            </p:nvSpPr>
            <p:spPr>
              <a:xfrm>
                <a:off x="81094" y="19050"/>
                <a:ext cx="702814" cy="717550"/>
              </a:xfrm>
              <a:prstGeom prst="rect">
                <a:avLst/>
              </a:prstGeom>
            </p:spPr>
            <p:txBody>
              <a:bodyPr lIns="50800" tIns="50800" rIns="50800" bIns="50800" rtlCol="0" anchor="ctr"/>
              <a:lstStyle/>
              <a:p>
                <a:pPr algn="ctr">
                  <a:lnSpc>
                    <a:spcPts val="2660"/>
                  </a:lnSpc>
                </a:pPr>
                <a:endParaRPr/>
              </a:p>
            </p:txBody>
          </p:sp>
        </p:grpSp>
        <p:sp>
          <p:nvSpPr>
            <p:cNvPr id="15" name="TextBox 15"/>
            <p:cNvSpPr txBox="1"/>
            <p:nvPr/>
          </p:nvSpPr>
          <p:spPr>
            <a:xfrm>
              <a:off x="204765" y="246410"/>
              <a:ext cx="448478" cy="332457"/>
            </a:xfrm>
            <a:prstGeom prst="rect">
              <a:avLst/>
            </a:prstGeom>
          </p:spPr>
          <p:txBody>
            <a:bodyPr lIns="0" tIns="0" rIns="0" bIns="0" rtlCol="0" anchor="t">
              <a:spAutoFit/>
            </a:bodyPr>
            <a:lstStyle/>
            <a:p>
              <a:pPr algn="ctr">
                <a:lnSpc>
                  <a:spcPts val="1746"/>
                </a:lnSpc>
              </a:pPr>
              <a:r>
                <a:rPr lang="en-US" sz="1746" b="1">
                  <a:solidFill>
                    <a:srgbClr val="FFFFFF"/>
                  </a:solidFill>
                  <a:latin typeface="Poppins Bold"/>
                  <a:ea typeface="Poppins Bold"/>
                  <a:cs typeface="Poppins Bold"/>
                  <a:sym typeface="Poppins Bold"/>
                </a:rPr>
                <a:t>02</a:t>
              </a:r>
            </a:p>
          </p:txBody>
        </p:sp>
      </p:grpSp>
      <p:sp>
        <p:nvSpPr>
          <p:cNvPr id="16" name="Freeform 16"/>
          <p:cNvSpPr/>
          <p:nvPr/>
        </p:nvSpPr>
        <p:spPr>
          <a:xfrm>
            <a:off x="11986855" y="5826105"/>
            <a:ext cx="6661538" cy="6661538"/>
          </a:xfrm>
          <a:custGeom>
            <a:avLst/>
            <a:gdLst/>
            <a:ahLst/>
            <a:cxnLst/>
            <a:rect l="l" t="t" r="r" b="b"/>
            <a:pathLst>
              <a:path w="6661538" h="6661538">
                <a:moveTo>
                  <a:pt x="0" y="0"/>
                </a:moveTo>
                <a:lnTo>
                  <a:pt x="6661538" y="0"/>
                </a:lnTo>
                <a:lnTo>
                  <a:pt x="6661538" y="6661539"/>
                </a:lnTo>
                <a:lnTo>
                  <a:pt x="0" y="6661539"/>
                </a:lnTo>
                <a:lnTo>
                  <a:pt x="0" y="0"/>
                </a:lnTo>
                <a:close/>
              </a:path>
            </a:pathLst>
          </a:custGeom>
          <a:blipFill>
            <a:blip>
              <a:alphaModFix amt="98000"/>
              <a:extLst>
                <a:ext uri="{96DAC541-7B7A-43D3-8B79-37D633B846F1}">
                  <asvg:svgBlip xmlns:asvg="http://schemas.microsoft.com/office/drawing/2016/SVG/main" r:embed="rId4"/>
                </a:ext>
              </a:extLst>
            </a:blip>
            <a:stretch>
              <a:fillRect/>
            </a:stretch>
          </a:blipFill>
        </p:spPr>
      </p:sp>
      <p:sp>
        <p:nvSpPr>
          <p:cNvPr id="17" name="Freeform 17"/>
          <p:cNvSpPr/>
          <p:nvPr/>
        </p:nvSpPr>
        <p:spPr>
          <a:xfrm>
            <a:off x="14207469" y="4773753"/>
            <a:ext cx="1110155" cy="1110155"/>
          </a:xfrm>
          <a:custGeom>
            <a:avLst/>
            <a:gdLst/>
            <a:ahLst/>
            <a:cxnLst/>
            <a:rect l="l" t="t" r="r" b="b"/>
            <a:pathLst>
              <a:path w="1110155" h="1110155">
                <a:moveTo>
                  <a:pt x="0" y="0"/>
                </a:moveTo>
                <a:lnTo>
                  <a:pt x="1110155" y="0"/>
                </a:lnTo>
                <a:lnTo>
                  <a:pt x="1110155" y="1110155"/>
                </a:lnTo>
                <a:lnTo>
                  <a:pt x="0" y="1110155"/>
                </a:lnTo>
                <a:lnTo>
                  <a:pt x="0" y="0"/>
                </a:lnTo>
                <a:close/>
              </a:path>
            </a:pathLst>
          </a:custGeom>
          <a:blipFill>
            <a:blip>
              <a:alphaModFix amt="98000"/>
              <a:extLst>
                <a:ext uri="{96DAC541-7B7A-43D3-8B79-37D633B846F1}">
                  <asvg:svgBlip xmlns:asvg="http://schemas.microsoft.com/office/drawing/2016/SVG/main" r:embed="rId4"/>
                </a:ext>
              </a:extLst>
            </a:blip>
            <a:stretch>
              <a:fillRect/>
            </a:stretch>
          </a:blipFill>
        </p:spPr>
      </p:sp>
      <p:sp>
        <p:nvSpPr>
          <p:cNvPr id="18" name="TextBox 18"/>
          <p:cNvSpPr txBox="1"/>
          <p:nvPr/>
        </p:nvSpPr>
        <p:spPr>
          <a:xfrm>
            <a:off x="0" y="3732283"/>
            <a:ext cx="8913727" cy="2265987"/>
          </a:xfrm>
          <a:prstGeom prst="rect">
            <a:avLst/>
          </a:prstGeom>
        </p:spPr>
        <p:txBody>
          <a:bodyPr lIns="0" tIns="0" rIns="0" bIns="0" rtlCol="0" anchor="t">
            <a:spAutoFit/>
          </a:bodyPr>
          <a:lstStyle/>
          <a:p>
            <a:pPr algn="ctr">
              <a:lnSpc>
                <a:spcPts val="2582"/>
              </a:lnSpc>
            </a:pPr>
            <a:r>
              <a:rPr lang="en-US" sz="1844">
                <a:solidFill>
                  <a:srgbClr val="FFFFFF"/>
                </a:solidFill>
                <a:latin typeface="Poppins"/>
                <a:ea typeface="Poppins"/>
                <a:cs typeface="Poppins"/>
                <a:sym typeface="Poppins"/>
              </a:rPr>
              <a:t>Process Flow: Adding Money</a:t>
            </a:r>
          </a:p>
          <a:p>
            <a:pPr marL="398184" lvl="1" indent="-199092" algn="ctr">
              <a:lnSpc>
                <a:spcPts val="2582"/>
              </a:lnSpc>
              <a:spcBef>
                <a:spcPct val="0"/>
              </a:spcBef>
              <a:buAutoNum type="arabicPeriod"/>
            </a:pPr>
            <a:r>
              <a:rPr lang="en-US" sz="1844">
                <a:solidFill>
                  <a:srgbClr val="FFFFFF"/>
                </a:solidFill>
                <a:latin typeface="Poppins"/>
                <a:ea typeface="Poppins"/>
                <a:cs typeface="Poppins"/>
                <a:sym typeface="Poppins"/>
              </a:rPr>
              <a:t>User Action: Types a number into the "Amount" box and clicks Deposit.</a:t>
            </a:r>
          </a:p>
          <a:p>
            <a:pPr marL="398184" lvl="1" indent="-199092" algn="ctr">
              <a:lnSpc>
                <a:spcPts val="2582"/>
              </a:lnSpc>
              <a:spcBef>
                <a:spcPct val="0"/>
              </a:spcBef>
              <a:buAutoNum type="arabicPeriod"/>
            </a:pPr>
            <a:r>
              <a:rPr lang="en-US" sz="1844">
                <a:solidFill>
                  <a:srgbClr val="FFFFFF"/>
                </a:solidFill>
                <a:latin typeface="Poppins"/>
                <a:ea typeface="Poppins"/>
                <a:cs typeface="Poppins"/>
                <a:sym typeface="Poppins"/>
              </a:rPr>
              <a:t>Request: The Frontend sends the number to the Backend (Python).</a:t>
            </a:r>
          </a:p>
          <a:p>
            <a:pPr marL="398184" lvl="1" indent="-199092" algn="ctr">
              <a:lnSpc>
                <a:spcPts val="2582"/>
              </a:lnSpc>
              <a:spcBef>
                <a:spcPct val="0"/>
              </a:spcBef>
              <a:buAutoNum type="arabicPeriod"/>
            </a:pPr>
            <a:r>
              <a:rPr lang="en-US" sz="1844">
                <a:solidFill>
                  <a:srgbClr val="FFFFFF"/>
                </a:solidFill>
                <a:latin typeface="Poppins"/>
                <a:ea typeface="Poppins"/>
                <a:cs typeface="Poppins"/>
                <a:sym typeface="Poppins"/>
              </a:rPr>
              <a:t>Processing: Flask adds that number to the Total_cash variable.</a:t>
            </a:r>
          </a:p>
          <a:p>
            <a:pPr marL="398184" lvl="1" indent="-199092" algn="ctr">
              <a:lnSpc>
                <a:spcPts val="2582"/>
              </a:lnSpc>
              <a:spcBef>
                <a:spcPct val="0"/>
              </a:spcBef>
              <a:buAutoNum type="arabicPeriod"/>
            </a:pPr>
            <a:r>
              <a:rPr lang="en-US" sz="1844">
                <a:solidFill>
                  <a:srgbClr val="FFFFFF"/>
                </a:solidFill>
                <a:latin typeface="Poppins"/>
                <a:ea typeface="Poppins"/>
                <a:cs typeface="Poppins"/>
                <a:sym typeface="Poppins"/>
              </a:rPr>
              <a:t>Response: The Backend sends back the new total balance.</a:t>
            </a:r>
          </a:p>
          <a:p>
            <a:pPr marL="398184" lvl="1" indent="-199092" algn="ctr">
              <a:lnSpc>
                <a:spcPts val="2582"/>
              </a:lnSpc>
              <a:spcBef>
                <a:spcPct val="0"/>
              </a:spcBef>
              <a:buAutoNum type="arabicPeriod"/>
            </a:pPr>
            <a:r>
              <a:rPr lang="en-US" sz="1844">
                <a:solidFill>
                  <a:srgbClr val="FFFFFF"/>
                </a:solidFill>
                <a:latin typeface="Poppins"/>
                <a:ea typeface="Poppins"/>
                <a:cs typeface="Poppins"/>
                <a:sym typeface="Poppins"/>
              </a:rPr>
              <a:t>Update: The Frontend displays the new balance on the screen.</a:t>
            </a:r>
          </a:p>
          <a:p>
            <a:pPr algn="ctr">
              <a:lnSpc>
                <a:spcPts val="2582"/>
              </a:lnSpc>
              <a:spcBef>
                <a:spcPct val="0"/>
              </a:spcBef>
            </a:pPr>
            <a:endParaRPr lang="en-US" sz="1844">
              <a:solidFill>
                <a:srgbClr val="FFFFFF"/>
              </a:solidFill>
              <a:latin typeface="Poppins"/>
              <a:ea typeface="Poppins"/>
              <a:cs typeface="Poppins"/>
              <a:sym typeface="Poppins"/>
            </a:endParaRPr>
          </a:p>
        </p:txBody>
      </p:sp>
      <p:sp>
        <p:nvSpPr>
          <p:cNvPr id="19" name="TextBox 19"/>
          <p:cNvSpPr txBox="1"/>
          <p:nvPr/>
        </p:nvSpPr>
        <p:spPr>
          <a:xfrm>
            <a:off x="8036108" y="6122095"/>
            <a:ext cx="9843382" cy="2342515"/>
          </a:xfrm>
          <a:prstGeom prst="rect">
            <a:avLst/>
          </a:prstGeom>
        </p:spPr>
        <p:txBody>
          <a:bodyPr lIns="0" tIns="0" rIns="0" bIns="0" rtlCol="0" anchor="t">
            <a:spAutoFit/>
          </a:bodyPr>
          <a:lstStyle/>
          <a:p>
            <a:pPr algn="ctr">
              <a:lnSpc>
                <a:spcPts val="2660"/>
              </a:lnSpc>
              <a:spcBef>
                <a:spcPct val="0"/>
              </a:spcBef>
            </a:pPr>
            <a:r>
              <a:rPr lang="en-US" sz="1900">
                <a:solidFill>
                  <a:srgbClr val="FFFFFF"/>
                </a:solidFill>
                <a:latin typeface="Poppins"/>
                <a:ea typeface="Poppins"/>
                <a:cs typeface="Poppins"/>
                <a:sym typeface="Poppins"/>
              </a:rPr>
              <a:t>Process Flow: Logging a Purchase</a:t>
            </a:r>
          </a:p>
          <a:p>
            <a:pPr marL="410211" lvl="1" indent="-205106" algn="ctr">
              <a:lnSpc>
                <a:spcPts val="2660"/>
              </a:lnSpc>
              <a:spcBef>
                <a:spcPct val="0"/>
              </a:spcBef>
              <a:buFont typeface="Arial"/>
              <a:buChar char="•"/>
            </a:pPr>
            <a:r>
              <a:rPr lang="en-US" sz="1900">
                <a:solidFill>
                  <a:srgbClr val="FFFFFF"/>
                </a:solidFill>
                <a:latin typeface="Poppins"/>
                <a:ea typeface="Poppins"/>
                <a:cs typeface="Poppins"/>
                <a:sym typeface="Poppins"/>
              </a:rPr>
              <a:t>User Action: Types a name (e.g., "Pizza") and selects a Category.</a:t>
            </a:r>
          </a:p>
          <a:p>
            <a:pPr marL="410211" lvl="1" indent="-205106" algn="ctr">
              <a:lnSpc>
                <a:spcPts val="2660"/>
              </a:lnSpc>
              <a:spcBef>
                <a:spcPct val="0"/>
              </a:spcBef>
              <a:buFont typeface="Arial"/>
              <a:buChar char="•"/>
            </a:pPr>
            <a:r>
              <a:rPr lang="en-US" sz="1900">
                <a:solidFill>
                  <a:srgbClr val="FFFFFF"/>
                </a:solidFill>
                <a:latin typeface="Poppins"/>
                <a:ea typeface="Poppins"/>
                <a:cs typeface="Poppins"/>
                <a:sym typeface="Poppins"/>
              </a:rPr>
              <a:t>Request: The Frontend sends the name and category to the Backend.</a:t>
            </a:r>
          </a:p>
          <a:p>
            <a:pPr marL="410211" lvl="1" indent="-205106" algn="ctr">
              <a:lnSpc>
                <a:spcPts val="2660"/>
              </a:lnSpc>
              <a:spcBef>
                <a:spcPct val="0"/>
              </a:spcBef>
              <a:buFont typeface="Arial"/>
              <a:buChar char="•"/>
            </a:pPr>
            <a:r>
              <a:rPr lang="en-US" sz="1900">
                <a:solidFill>
                  <a:srgbClr val="FFFFFF"/>
                </a:solidFill>
                <a:latin typeface="Poppins"/>
                <a:ea typeface="Poppins"/>
                <a:cs typeface="Poppins"/>
                <a:sym typeface="Poppins"/>
              </a:rPr>
              <a:t>Processing: Flask saves the name into the specific category list.</a:t>
            </a:r>
          </a:p>
          <a:p>
            <a:pPr marL="410211" lvl="1" indent="-205106" algn="ctr">
              <a:lnSpc>
                <a:spcPts val="2660"/>
              </a:lnSpc>
              <a:spcBef>
                <a:spcPct val="0"/>
              </a:spcBef>
              <a:buFont typeface="Arial"/>
              <a:buChar char="•"/>
            </a:pPr>
            <a:r>
              <a:rPr lang="en-US" sz="1900">
                <a:solidFill>
                  <a:srgbClr val="FFFFFF"/>
                </a:solidFill>
                <a:latin typeface="Poppins"/>
                <a:ea typeface="Poppins"/>
                <a:cs typeface="Poppins"/>
                <a:sym typeface="Poppins"/>
              </a:rPr>
              <a:t>Retrieve: The Frontend immediately asks for the updated list for that category.</a:t>
            </a:r>
          </a:p>
          <a:p>
            <a:pPr marL="410211" lvl="1" indent="-205106" algn="ctr">
              <a:lnSpc>
                <a:spcPts val="2660"/>
              </a:lnSpc>
              <a:spcBef>
                <a:spcPct val="0"/>
              </a:spcBef>
              <a:buFont typeface="Arial"/>
              <a:buChar char="•"/>
            </a:pPr>
            <a:r>
              <a:rPr lang="en-US" sz="1900">
                <a:solidFill>
                  <a:srgbClr val="FFFFFF"/>
                </a:solidFill>
                <a:latin typeface="Poppins"/>
                <a:ea typeface="Poppins"/>
                <a:cs typeface="Poppins"/>
                <a:sym typeface="Poppins"/>
              </a:rPr>
              <a:t>Update: The Frontend clears the old list and displays the new names.</a:t>
            </a:r>
          </a:p>
          <a:p>
            <a:pPr algn="ctr">
              <a:lnSpc>
                <a:spcPts val="2660"/>
              </a:lnSpc>
              <a:spcBef>
                <a:spcPct val="0"/>
              </a:spcBef>
            </a:pPr>
            <a:endParaRPr lang="en-US" sz="1900">
              <a:solidFill>
                <a:srgbClr val="FFFFFF"/>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a:extLst>
            <a:ext uri="{FF2B5EF4-FFF2-40B4-BE49-F238E27FC236}">
              <a16:creationId xmlns:a16="http://schemas.microsoft.com/office/drawing/2014/main" id="{59706210-44F5-2AE3-54B2-50809EC8D6B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0B09CA5-1685-7F1B-7B37-E1AF0FEB68D8}"/>
              </a:ext>
            </a:extLst>
          </p:cNvPr>
          <p:cNvSpPr/>
          <p:nvPr/>
        </p:nvSpPr>
        <p:spPr>
          <a:xfrm>
            <a:off x="-841684" y="4991100"/>
            <a:ext cx="2445367" cy="2445367"/>
          </a:xfrm>
          <a:custGeom>
            <a:avLst/>
            <a:gdLst/>
            <a:ahLst/>
            <a:cxnLst/>
            <a:rect l="l" t="t" r="r" b="b"/>
            <a:pathLst>
              <a:path w="2445367" h="2445367">
                <a:moveTo>
                  <a:pt x="0" y="0"/>
                </a:moveTo>
                <a:lnTo>
                  <a:pt x="2445367" y="0"/>
                </a:lnTo>
                <a:lnTo>
                  <a:pt x="2445367" y="2445367"/>
                </a:lnTo>
                <a:lnTo>
                  <a:pt x="0" y="244536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FEC9C15D-D76A-8718-C2DC-5077E8703FAD}"/>
              </a:ext>
            </a:extLst>
          </p:cNvPr>
          <p:cNvSpPr/>
          <p:nvPr/>
        </p:nvSpPr>
        <p:spPr>
          <a:xfrm>
            <a:off x="1523048" y="1412096"/>
            <a:ext cx="665937" cy="385033"/>
          </a:xfrm>
          <a:custGeom>
            <a:avLst/>
            <a:gdLst/>
            <a:ahLst/>
            <a:cxnLst/>
            <a:rect l="l" t="t" r="r" b="b"/>
            <a:pathLst>
              <a:path w="665937" h="385033">
                <a:moveTo>
                  <a:pt x="0" y="0"/>
                </a:moveTo>
                <a:lnTo>
                  <a:pt x="665937" y="0"/>
                </a:lnTo>
                <a:lnTo>
                  <a:pt x="665937" y="385032"/>
                </a:lnTo>
                <a:lnTo>
                  <a:pt x="0" y="38503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AutoShape 4">
            <a:extLst>
              <a:ext uri="{FF2B5EF4-FFF2-40B4-BE49-F238E27FC236}">
                <a16:creationId xmlns:a16="http://schemas.microsoft.com/office/drawing/2014/main" id="{7A992C86-F4C2-63F3-6882-C493A2FB1D36}"/>
              </a:ext>
            </a:extLst>
          </p:cNvPr>
          <p:cNvSpPr/>
          <p:nvPr/>
        </p:nvSpPr>
        <p:spPr>
          <a:xfrm>
            <a:off x="2965365" y="1599850"/>
            <a:ext cx="7555869" cy="9525"/>
          </a:xfrm>
          <a:prstGeom prst="line">
            <a:avLst/>
          </a:prstGeom>
          <a:ln w="19050" cap="flat">
            <a:solidFill>
              <a:srgbClr val="4C4C4C"/>
            </a:solidFill>
            <a:prstDash val="solid"/>
            <a:headEnd type="none" w="sm" len="sm"/>
            <a:tailEnd type="none" w="sm" len="sm"/>
          </a:ln>
        </p:spPr>
      </p:sp>
      <p:sp>
        <p:nvSpPr>
          <p:cNvPr id="5" name="TextBox 5">
            <a:extLst>
              <a:ext uri="{FF2B5EF4-FFF2-40B4-BE49-F238E27FC236}">
                <a16:creationId xmlns:a16="http://schemas.microsoft.com/office/drawing/2014/main" id="{F9D0BA59-B416-473B-5F46-E4827778A336}"/>
              </a:ext>
            </a:extLst>
          </p:cNvPr>
          <p:cNvSpPr txBox="1"/>
          <p:nvPr/>
        </p:nvSpPr>
        <p:spPr>
          <a:xfrm>
            <a:off x="4876800" y="1641231"/>
            <a:ext cx="15241903" cy="795346"/>
          </a:xfrm>
          <a:prstGeom prst="rect">
            <a:avLst/>
          </a:prstGeom>
        </p:spPr>
        <p:txBody>
          <a:bodyPr lIns="0" tIns="0" rIns="0" bIns="0" rtlCol="0" anchor="t">
            <a:spAutoFit/>
          </a:bodyPr>
          <a:lstStyle/>
          <a:p>
            <a:pPr algn="l">
              <a:lnSpc>
                <a:spcPts val="6056"/>
              </a:lnSpc>
            </a:pPr>
            <a:r>
              <a:rPr lang="en-US" sz="6056" dirty="0">
                <a:solidFill>
                  <a:srgbClr val="FFFFFF"/>
                </a:solidFill>
                <a:latin typeface="Agrandir Grand"/>
                <a:ea typeface="Agrandir Grand"/>
                <a:cs typeface="Agrandir Grand"/>
                <a:sym typeface="Agrandir Grand"/>
              </a:rPr>
              <a:t>METHODOLOGY:</a:t>
            </a:r>
          </a:p>
        </p:txBody>
      </p:sp>
      <p:sp>
        <p:nvSpPr>
          <p:cNvPr id="16" name="Freeform 16">
            <a:extLst>
              <a:ext uri="{FF2B5EF4-FFF2-40B4-BE49-F238E27FC236}">
                <a16:creationId xmlns:a16="http://schemas.microsoft.com/office/drawing/2014/main" id="{ADB6BAB2-3E0F-F19D-3B6B-ED75E46BB16C}"/>
              </a:ext>
            </a:extLst>
          </p:cNvPr>
          <p:cNvSpPr/>
          <p:nvPr/>
        </p:nvSpPr>
        <p:spPr>
          <a:xfrm>
            <a:off x="11986855" y="5826105"/>
            <a:ext cx="6661538" cy="6661538"/>
          </a:xfrm>
          <a:custGeom>
            <a:avLst/>
            <a:gdLst/>
            <a:ahLst/>
            <a:cxnLst/>
            <a:rect l="l" t="t" r="r" b="b"/>
            <a:pathLst>
              <a:path w="6661538" h="6661538">
                <a:moveTo>
                  <a:pt x="0" y="0"/>
                </a:moveTo>
                <a:lnTo>
                  <a:pt x="6661538" y="0"/>
                </a:lnTo>
                <a:lnTo>
                  <a:pt x="6661538" y="6661539"/>
                </a:lnTo>
                <a:lnTo>
                  <a:pt x="0" y="6661539"/>
                </a:lnTo>
                <a:lnTo>
                  <a:pt x="0" y="0"/>
                </a:lnTo>
                <a:close/>
              </a:path>
            </a:pathLst>
          </a:custGeom>
          <a:blipFill>
            <a:blip>
              <a:alphaModFix amt="98000"/>
              <a:extLst>
                <a:ext uri="{96DAC541-7B7A-43D3-8B79-37D633B846F1}">
                  <asvg:svgBlip xmlns:asvg="http://schemas.microsoft.com/office/drawing/2016/SVG/main" r:embed="rId4"/>
                </a:ext>
              </a:extLst>
            </a:blip>
            <a:stretch>
              <a:fillRect/>
            </a:stretch>
          </a:blipFill>
        </p:spPr>
      </p:sp>
      <p:sp>
        <p:nvSpPr>
          <p:cNvPr id="17" name="Freeform 17">
            <a:extLst>
              <a:ext uri="{FF2B5EF4-FFF2-40B4-BE49-F238E27FC236}">
                <a16:creationId xmlns:a16="http://schemas.microsoft.com/office/drawing/2014/main" id="{24D44C2C-8055-B5FE-4514-BAD153B34BCB}"/>
              </a:ext>
            </a:extLst>
          </p:cNvPr>
          <p:cNvSpPr/>
          <p:nvPr/>
        </p:nvSpPr>
        <p:spPr>
          <a:xfrm>
            <a:off x="14207469" y="4773753"/>
            <a:ext cx="1110155" cy="1110155"/>
          </a:xfrm>
          <a:custGeom>
            <a:avLst/>
            <a:gdLst/>
            <a:ahLst/>
            <a:cxnLst/>
            <a:rect l="l" t="t" r="r" b="b"/>
            <a:pathLst>
              <a:path w="1110155" h="1110155">
                <a:moveTo>
                  <a:pt x="0" y="0"/>
                </a:moveTo>
                <a:lnTo>
                  <a:pt x="1110155" y="0"/>
                </a:lnTo>
                <a:lnTo>
                  <a:pt x="1110155" y="1110155"/>
                </a:lnTo>
                <a:lnTo>
                  <a:pt x="0" y="1110155"/>
                </a:lnTo>
                <a:lnTo>
                  <a:pt x="0" y="0"/>
                </a:lnTo>
                <a:close/>
              </a:path>
            </a:pathLst>
          </a:custGeom>
          <a:blipFill>
            <a:blip>
              <a:alphaModFix amt="98000"/>
              <a:extLst>
                <a:ext uri="{96DAC541-7B7A-43D3-8B79-37D633B846F1}">
                  <asvg:svgBlip xmlns:asvg="http://schemas.microsoft.com/office/drawing/2016/SVG/main" r:embed="rId4"/>
                </a:ext>
              </a:extLst>
            </a:blip>
            <a:stretch>
              <a:fillRect/>
            </a:stretch>
          </a:blipFill>
        </p:spPr>
      </p:sp>
      <p:sp>
        <p:nvSpPr>
          <p:cNvPr id="18" name="TextBox 18">
            <a:extLst>
              <a:ext uri="{FF2B5EF4-FFF2-40B4-BE49-F238E27FC236}">
                <a16:creationId xmlns:a16="http://schemas.microsoft.com/office/drawing/2014/main" id="{10E14051-4DE8-5A43-21C8-EF8713BF364E}"/>
              </a:ext>
            </a:extLst>
          </p:cNvPr>
          <p:cNvSpPr txBox="1"/>
          <p:nvPr/>
        </p:nvSpPr>
        <p:spPr>
          <a:xfrm>
            <a:off x="381000" y="2324100"/>
            <a:ext cx="17068799" cy="8072274"/>
          </a:xfrm>
          <a:prstGeom prst="rect">
            <a:avLst/>
          </a:prstGeom>
        </p:spPr>
        <p:txBody>
          <a:bodyPr wrap="square" lIns="0" tIns="0" rIns="0" bIns="0" rtlCol="0" anchor="t">
            <a:spAutoFit/>
          </a:bodyPr>
          <a:lstStyle/>
          <a:p>
            <a:endParaRPr lang="en-PH" dirty="0"/>
          </a:p>
          <a:p>
            <a:r>
              <a:rPr lang="en-PH" dirty="0">
                <a:solidFill>
                  <a:schemeClr val="bg1">
                    <a:lumMod val="95000"/>
                  </a:schemeClr>
                </a:solidFill>
              </a:rPr>
              <a:t>This project was developed to create a simple and easy-to-use expense tracker that allows users to manage their money. The main goal was to help users keep track of their balance by adding money, deducting money, classifying expenses into categories, and viewing their recorded data. </a:t>
            </a:r>
          </a:p>
          <a:p>
            <a:r>
              <a:rPr lang="en-PH" dirty="0">
                <a:solidFill>
                  <a:schemeClr val="bg1">
                    <a:lumMod val="95000"/>
                  </a:schemeClr>
                </a:solidFill>
              </a:rPr>
              <a:t>The system is divided into two parts: the frontend and the backend. The frontend is what the user interacts with, which was created using HTML and JavaScript. It includes input fields where users can enter an amount of money and classify items into categories such as food, transportation, bills, entertainment, and others. The backend was developed using Python with Flask, which handles the processing of data and manages how the system works. </a:t>
            </a:r>
          </a:p>
          <a:p>
            <a:r>
              <a:rPr lang="en-PH" dirty="0">
                <a:solidFill>
                  <a:schemeClr val="bg1">
                    <a:lumMod val="95000"/>
                  </a:schemeClr>
                </a:solidFill>
              </a:rPr>
              <a:t>During development, the frontend was designed to allow users to input data easily and view results instantly. JavaScript was used to send user inputs to the backend using HTTP requests. The backend processes these requests and updates the stored data accordingly. </a:t>
            </a:r>
          </a:p>
          <a:p>
            <a:r>
              <a:rPr lang="en-PH" dirty="0">
                <a:solidFill>
                  <a:schemeClr val="bg1">
                    <a:lumMod val="95000"/>
                  </a:schemeClr>
                </a:solidFill>
              </a:rPr>
              <a:t>The system includes four main features. First, users can add money to increase their balance. Second, users can deduct money to reduce their balance. Third, users can classify items by entering a name and assigning it to a specific category. Lastly, users can view the list of items under each category. </a:t>
            </a:r>
          </a:p>
          <a:p>
            <a:r>
              <a:rPr lang="en-PH" dirty="0">
                <a:solidFill>
                  <a:schemeClr val="bg1">
                    <a:lumMod val="95000"/>
                  </a:schemeClr>
                </a:solidFill>
              </a:rPr>
              <a:t>The frontend and backend are connected so that whenever the user performs an action, such as adding money or classifying an item, the data is sent to the server, processed, and then displayed on the page without needing to refresh. This allows the system to update in real time. </a:t>
            </a:r>
          </a:p>
          <a:p>
            <a:r>
              <a:rPr lang="en-PH" dirty="0">
                <a:solidFill>
                  <a:schemeClr val="bg1">
                    <a:lumMod val="95000"/>
                  </a:schemeClr>
                </a:solidFill>
              </a:rPr>
              <a:t>The system was tested by performing different actions like adding and deducting money, classifying items, and viewing categories to ensure everything worked correctly. While the system functions properly, it has some limitations such as not saving data permanently and having a simple interface. </a:t>
            </a:r>
          </a:p>
          <a:p>
            <a:r>
              <a:rPr lang="en-PH" dirty="0">
                <a:solidFill>
                  <a:schemeClr val="bg1">
                    <a:lumMod val="95000"/>
                  </a:schemeClr>
                </a:solidFill>
              </a:rPr>
              <a:t>Overall, the system provides a basic but functional way for users to track their finances and organize their expenses. </a:t>
            </a:r>
          </a:p>
          <a:p>
            <a:endParaRPr lang="en-PH" dirty="0">
              <a:solidFill>
                <a:schemeClr val="bg1">
                  <a:lumMod val="95000"/>
                </a:schemeClr>
              </a:solidFill>
            </a:endParaRPr>
          </a:p>
          <a:p>
            <a:r>
              <a:rPr lang="en-PH" dirty="0">
                <a:solidFill>
                  <a:schemeClr val="bg1">
                    <a:lumMod val="95000"/>
                  </a:schemeClr>
                </a:solidFill>
              </a:rPr>
              <a:t>Sources for the technologies used:</a:t>
            </a:r>
          </a:p>
          <a:p>
            <a:endParaRPr lang="en-PH" dirty="0">
              <a:solidFill>
                <a:schemeClr val="bg1">
                  <a:lumMod val="95000"/>
                </a:schemeClr>
              </a:solidFill>
            </a:endParaRPr>
          </a:p>
          <a:p>
            <a:r>
              <a:rPr lang="en-PH" dirty="0">
                <a:solidFill>
                  <a:schemeClr val="bg1">
                    <a:lumMod val="95000"/>
                  </a:schemeClr>
                </a:solidFill>
              </a:rPr>
              <a:t> Mozilla. (2025). HTML: </a:t>
            </a:r>
            <a:r>
              <a:rPr lang="en-PH" dirty="0" err="1">
                <a:solidFill>
                  <a:schemeClr val="bg1">
                    <a:lumMod val="95000"/>
                  </a:schemeClr>
                </a:solidFill>
              </a:rPr>
              <a:t>HyperText</a:t>
            </a:r>
            <a:r>
              <a:rPr lang="en-PH" dirty="0">
                <a:solidFill>
                  <a:schemeClr val="bg1">
                    <a:lumMod val="95000"/>
                  </a:schemeClr>
                </a:solidFill>
              </a:rPr>
              <a:t> Markup Language. MDN Web Docs. https://developer.mozilla.org/</a:t>
            </a:r>
          </a:p>
          <a:p>
            <a:endParaRPr lang="en-PH" dirty="0">
              <a:solidFill>
                <a:schemeClr val="bg1">
                  <a:lumMod val="95000"/>
                </a:schemeClr>
              </a:solidFill>
            </a:endParaRPr>
          </a:p>
          <a:p>
            <a:r>
              <a:rPr lang="en-PH" dirty="0">
                <a:solidFill>
                  <a:schemeClr val="bg1">
                    <a:lumMod val="95000"/>
                  </a:schemeClr>
                </a:solidFill>
              </a:rPr>
              <a:t>Mozilla. (2025). Fetch API. MDN Web Docs. https://developer.mozilla.org/en-US/docs/Web/API/Fetch_API</a:t>
            </a:r>
          </a:p>
          <a:p>
            <a:endParaRPr lang="en-PH" dirty="0">
              <a:solidFill>
                <a:schemeClr val="bg1">
                  <a:lumMod val="95000"/>
                </a:schemeClr>
              </a:solidFill>
            </a:endParaRPr>
          </a:p>
          <a:p>
            <a:r>
              <a:rPr lang="en-PH" dirty="0">
                <a:solidFill>
                  <a:schemeClr val="bg1">
                    <a:lumMod val="95000"/>
                  </a:schemeClr>
                </a:solidFill>
              </a:rPr>
              <a:t>Pallets Projects. (2025). Flask Documentation. https://flask.palletsprojects.com/</a:t>
            </a:r>
          </a:p>
          <a:p>
            <a:endParaRPr lang="en-PH" dirty="0">
              <a:solidFill>
                <a:schemeClr val="bg1">
                  <a:lumMod val="95000"/>
                </a:schemeClr>
              </a:solidFill>
            </a:endParaRPr>
          </a:p>
          <a:p>
            <a:r>
              <a:rPr lang="en-PH" dirty="0">
                <a:solidFill>
                  <a:schemeClr val="bg1">
                    <a:lumMod val="95000"/>
                  </a:schemeClr>
                </a:solidFill>
              </a:rPr>
              <a:t>Python Software Foundation. (2025). datetime — Basic date and time types. Python Documentation. https://docs.python.org/3/library/datetime.html</a:t>
            </a:r>
          </a:p>
          <a:p>
            <a:endParaRPr lang="en-PH" dirty="0">
              <a:solidFill>
                <a:schemeClr val="bg1">
                  <a:lumMod val="95000"/>
                </a:schemeClr>
              </a:solidFill>
            </a:endParaRPr>
          </a:p>
          <a:p>
            <a:r>
              <a:rPr lang="en-PH" dirty="0">
                <a:solidFill>
                  <a:schemeClr val="bg1">
                    <a:lumMod val="95000"/>
                  </a:schemeClr>
                </a:solidFill>
              </a:rPr>
              <a:t>Python Software Foundation. (2025). </a:t>
            </a:r>
            <a:r>
              <a:rPr lang="en-PH" dirty="0" err="1">
                <a:solidFill>
                  <a:schemeClr val="bg1">
                    <a:lumMod val="95000"/>
                  </a:schemeClr>
                </a:solidFill>
              </a:rPr>
              <a:t>json</a:t>
            </a:r>
            <a:r>
              <a:rPr lang="en-PH" dirty="0">
                <a:solidFill>
                  <a:schemeClr val="bg1">
                    <a:lumMod val="95000"/>
                  </a:schemeClr>
                </a:solidFill>
              </a:rPr>
              <a:t> — JSON encoder and decoder. Python Documentation. https://docs.python.org/3/library/json.html</a:t>
            </a:r>
          </a:p>
          <a:p>
            <a:r>
              <a:rPr lang="en-PH" dirty="0">
                <a:solidFill>
                  <a:schemeClr val="bg1">
                    <a:lumMod val="95000"/>
                  </a:schemeClr>
                </a:solidFill>
              </a:rPr>
              <a:t> </a:t>
            </a:r>
          </a:p>
          <a:p>
            <a:pPr algn="ctr">
              <a:lnSpc>
                <a:spcPts val="2582"/>
              </a:lnSpc>
              <a:spcBef>
                <a:spcPct val="0"/>
              </a:spcBef>
            </a:pPr>
            <a:endParaRPr lang="en-US" sz="1844" dirty="0">
              <a:solidFill>
                <a:srgbClr val="FFFFFF"/>
              </a:solidFill>
              <a:latin typeface="Poppins"/>
              <a:ea typeface="Poppins"/>
              <a:cs typeface="Poppins"/>
              <a:sym typeface="Poppins"/>
            </a:endParaRPr>
          </a:p>
        </p:txBody>
      </p:sp>
    </p:spTree>
    <p:extLst>
      <p:ext uri="{BB962C8B-B14F-4D97-AF65-F5344CB8AC3E}">
        <p14:creationId xmlns:p14="http://schemas.microsoft.com/office/powerpoint/2010/main" val="835437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181818">
                <a:alpha val="100000"/>
              </a:srgbClr>
            </a:gs>
            <a:gs pos="50000">
              <a:srgbClr val="1B103B">
                <a:alpha val="100000"/>
              </a:srgbClr>
            </a:gs>
            <a:gs pos="100000">
              <a:srgbClr val="180424">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0841772" y="3335121"/>
            <a:ext cx="5923179" cy="5923179"/>
          </a:xfrm>
          <a:custGeom>
            <a:avLst/>
            <a:gdLst/>
            <a:ahLst/>
            <a:cxnLst/>
            <a:rect l="l" t="t" r="r" b="b"/>
            <a:pathLst>
              <a:path w="5923179" h="5923179">
                <a:moveTo>
                  <a:pt x="0" y="0"/>
                </a:moveTo>
                <a:lnTo>
                  <a:pt x="5923180" y="0"/>
                </a:lnTo>
                <a:lnTo>
                  <a:pt x="5923180" y="5923179"/>
                </a:lnTo>
                <a:lnTo>
                  <a:pt x="0" y="592317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3140505" y="1534636"/>
            <a:ext cx="14799077" cy="2024097"/>
          </a:xfrm>
          <a:prstGeom prst="rect">
            <a:avLst/>
          </a:prstGeom>
        </p:spPr>
        <p:txBody>
          <a:bodyPr lIns="0" tIns="0" rIns="0" bIns="0" rtlCol="0" anchor="t">
            <a:spAutoFit/>
          </a:bodyPr>
          <a:lstStyle/>
          <a:p>
            <a:pPr algn="r">
              <a:lnSpc>
                <a:spcPts val="12563"/>
              </a:lnSpc>
            </a:pPr>
            <a:r>
              <a:rPr lang="en-US" sz="12563">
                <a:solidFill>
                  <a:srgbClr val="FFFFFF"/>
                </a:solidFill>
                <a:latin typeface="Agrandir Grand"/>
                <a:ea typeface="Agrandir Grand"/>
                <a:cs typeface="Agrandir Grand"/>
                <a:sym typeface="Agrandir Grand"/>
              </a:rPr>
              <a:t>THANK YOU</a:t>
            </a:r>
          </a:p>
        </p:txBody>
      </p:sp>
      <p:sp>
        <p:nvSpPr>
          <p:cNvPr id="4" name="Freeform 4"/>
          <p:cNvSpPr/>
          <p:nvPr/>
        </p:nvSpPr>
        <p:spPr>
          <a:xfrm>
            <a:off x="10620898" y="7353657"/>
            <a:ext cx="1353433" cy="1353433"/>
          </a:xfrm>
          <a:custGeom>
            <a:avLst/>
            <a:gdLst/>
            <a:ahLst/>
            <a:cxnLst/>
            <a:rect l="l" t="t" r="r" b="b"/>
            <a:pathLst>
              <a:path w="1353433" h="1353433">
                <a:moveTo>
                  <a:pt x="0" y="0"/>
                </a:moveTo>
                <a:lnTo>
                  <a:pt x="1353434" y="0"/>
                </a:lnTo>
                <a:lnTo>
                  <a:pt x="1353434" y="1353433"/>
                </a:lnTo>
                <a:lnTo>
                  <a:pt x="0" y="1353433"/>
                </a:lnTo>
                <a:lnTo>
                  <a:pt x="0" y="0"/>
                </a:lnTo>
                <a:close/>
              </a:path>
            </a:pathLst>
          </a:custGeom>
          <a:blipFill>
            <a:blip>
              <a:alphaModFix amt="98000"/>
              <a:extLst>
                <a:ext uri="{96DAC541-7B7A-43D3-8B79-37D633B846F1}">
                  <asvg:svgBlip xmlns:asvg="http://schemas.microsoft.com/office/drawing/2016/SVG/main" r:embed="rId2"/>
                </a:ext>
              </a:extLst>
            </a:blip>
            <a:stretch>
              <a:fillRect/>
            </a:stretch>
          </a:blipFill>
        </p:spPr>
      </p:sp>
      <p:grpSp>
        <p:nvGrpSpPr>
          <p:cNvPr id="5" name="Group 5"/>
          <p:cNvGrpSpPr/>
          <p:nvPr/>
        </p:nvGrpSpPr>
        <p:grpSpPr>
          <a:xfrm>
            <a:off x="1605185" y="4649021"/>
            <a:ext cx="5467337" cy="1611220"/>
            <a:chOff x="0" y="0"/>
            <a:chExt cx="7289783" cy="2148293"/>
          </a:xfrm>
        </p:grpSpPr>
        <p:grpSp>
          <p:nvGrpSpPr>
            <p:cNvPr id="6" name="Group 6"/>
            <p:cNvGrpSpPr/>
            <p:nvPr/>
          </p:nvGrpSpPr>
          <p:grpSpPr>
            <a:xfrm>
              <a:off x="0" y="0"/>
              <a:ext cx="7289783" cy="2148293"/>
              <a:chOff x="0" y="0"/>
              <a:chExt cx="1457479" cy="429518"/>
            </a:xfrm>
          </p:grpSpPr>
          <p:sp>
            <p:nvSpPr>
              <p:cNvPr id="7" name="Freeform 7"/>
              <p:cNvSpPr/>
              <p:nvPr/>
            </p:nvSpPr>
            <p:spPr>
              <a:xfrm>
                <a:off x="0" y="0"/>
                <a:ext cx="1457479" cy="429518"/>
              </a:xfrm>
              <a:custGeom>
                <a:avLst/>
                <a:gdLst/>
                <a:ahLst/>
                <a:cxnLst/>
                <a:rect l="l" t="t" r="r" b="b"/>
                <a:pathLst>
                  <a:path w="1457479" h="429518">
                    <a:moveTo>
                      <a:pt x="116115" y="0"/>
                    </a:moveTo>
                    <a:lnTo>
                      <a:pt x="1341364" y="0"/>
                    </a:lnTo>
                    <a:cubicBezTo>
                      <a:pt x="1372160" y="0"/>
                      <a:pt x="1401694" y="12233"/>
                      <a:pt x="1423470" y="34009"/>
                    </a:cubicBezTo>
                    <a:cubicBezTo>
                      <a:pt x="1445245" y="55785"/>
                      <a:pt x="1457479" y="85319"/>
                      <a:pt x="1457479" y="116115"/>
                    </a:cubicBezTo>
                    <a:lnTo>
                      <a:pt x="1457479" y="313403"/>
                    </a:lnTo>
                    <a:cubicBezTo>
                      <a:pt x="1457479" y="344199"/>
                      <a:pt x="1445245" y="373733"/>
                      <a:pt x="1423470" y="395509"/>
                    </a:cubicBezTo>
                    <a:cubicBezTo>
                      <a:pt x="1401694" y="417284"/>
                      <a:pt x="1372160" y="429518"/>
                      <a:pt x="1341364" y="429518"/>
                    </a:cubicBezTo>
                    <a:lnTo>
                      <a:pt x="116115" y="429518"/>
                    </a:lnTo>
                    <a:cubicBezTo>
                      <a:pt x="85319" y="429518"/>
                      <a:pt x="55785" y="417284"/>
                      <a:pt x="34009" y="395509"/>
                    </a:cubicBezTo>
                    <a:cubicBezTo>
                      <a:pt x="12233" y="373733"/>
                      <a:pt x="0" y="344199"/>
                      <a:pt x="0" y="313403"/>
                    </a:cubicBezTo>
                    <a:lnTo>
                      <a:pt x="0" y="116115"/>
                    </a:lnTo>
                    <a:cubicBezTo>
                      <a:pt x="0" y="85319"/>
                      <a:pt x="12233" y="55785"/>
                      <a:pt x="34009" y="34009"/>
                    </a:cubicBezTo>
                    <a:cubicBezTo>
                      <a:pt x="55785" y="12233"/>
                      <a:pt x="85319" y="0"/>
                      <a:pt x="116115" y="0"/>
                    </a:cubicBezTo>
                    <a:close/>
                  </a:path>
                </a:pathLst>
              </a:custGeom>
              <a:gradFill rotWithShape="1">
                <a:gsLst>
                  <a:gs pos="0">
                    <a:srgbClr val="FFFFFF">
                      <a:alpha val="5000"/>
                    </a:srgbClr>
                  </a:gs>
                  <a:gs pos="50000">
                    <a:srgbClr val="F1F1F1">
                      <a:alpha val="5000"/>
                    </a:srgbClr>
                  </a:gs>
                  <a:gs pos="100000">
                    <a:srgbClr val="F1F1F1">
                      <a:alpha val="5000"/>
                    </a:srgbClr>
                  </a:gs>
                </a:gsLst>
                <a:lin ang="0"/>
              </a:gradFill>
            </p:spPr>
          </p:sp>
          <p:sp>
            <p:nvSpPr>
              <p:cNvPr id="8" name="TextBox 8"/>
              <p:cNvSpPr txBox="1"/>
              <p:nvPr/>
            </p:nvSpPr>
            <p:spPr>
              <a:xfrm>
                <a:off x="0" y="-57150"/>
                <a:ext cx="1457479" cy="486668"/>
              </a:xfrm>
              <a:prstGeom prst="rect">
                <a:avLst/>
              </a:prstGeom>
            </p:spPr>
            <p:txBody>
              <a:bodyPr lIns="52257" tIns="52257" rIns="52257" bIns="52257" rtlCol="0" anchor="ctr"/>
              <a:lstStyle/>
              <a:p>
                <a:pPr algn="ctr">
                  <a:lnSpc>
                    <a:spcPts val="2660"/>
                  </a:lnSpc>
                  <a:spcBef>
                    <a:spcPct val="0"/>
                  </a:spcBef>
                </a:pPr>
                <a:endParaRPr/>
              </a:p>
            </p:txBody>
          </p:sp>
        </p:grpSp>
        <p:sp>
          <p:nvSpPr>
            <p:cNvPr id="9" name="TextBox 9"/>
            <p:cNvSpPr txBox="1"/>
            <p:nvPr/>
          </p:nvSpPr>
          <p:spPr>
            <a:xfrm>
              <a:off x="603200" y="429102"/>
              <a:ext cx="6070898" cy="1309138"/>
            </a:xfrm>
            <a:prstGeom prst="rect">
              <a:avLst/>
            </a:prstGeom>
          </p:spPr>
          <p:txBody>
            <a:bodyPr lIns="0" tIns="0" rIns="0" bIns="0" rtlCol="0" anchor="t">
              <a:spAutoFit/>
            </a:bodyPr>
            <a:lstStyle/>
            <a:p>
              <a:pPr algn="l">
                <a:lnSpc>
                  <a:spcPts val="2474"/>
                </a:lnSpc>
              </a:pPr>
              <a:r>
                <a:rPr lang="en-US" sz="2474" i="1">
                  <a:solidFill>
                    <a:srgbClr val="A2A2A2"/>
                  </a:solidFill>
                  <a:latin typeface="Poppins Italics"/>
                  <a:ea typeface="Poppins Italics"/>
                  <a:cs typeface="Poppins Italics"/>
                  <a:sym typeface="Poppins Italics"/>
                </a:rPr>
                <a:t>Presented By: Nishan Gary S. Jayasinghe and Phil Orlan D. Majam 8-Sampaguita</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999</Words>
  <Application>Microsoft Office PowerPoint</Application>
  <PresentationFormat>Custom</PresentationFormat>
  <Paragraphs>75</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Agrandir Grand</vt:lpstr>
      <vt:lpstr>Poppins Italics</vt:lpstr>
      <vt:lpstr>Calibri</vt:lpstr>
      <vt:lpstr>Poppins Bold</vt:lpstr>
      <vt:lpstr>Poppins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Gradient Project Plan Presentation</dc:title>
  <dc:creator>Nishan Gary</dc:creator>
  <cp:lastModifiedBy>Nishan Gary</cp:lastModifiedBy>
  <cp:revision>2</cp:revision>
  <dcterms:created xsi:type="dcterms:W3CDTF">2006-08-16T00:00:00Z</dcterms:created>
  <dcterms:modified xsi:type="dcterms:W3CDTF">2026-04-27T11:55:55Z</dcterms:modified>
  <dc:identifier>DAHEfRmrFQo</dc:identifier>
</cp:coreProperties>
</file>