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grandir Grand" charset="1" panose="00000507000000000000"/>
      <p:regular r:id="rId13"/>
    </p:embeddedFont>
    <p:embeddedFont>
      <p:font typeface="Poppins Italics" charset="1" panose="00000500000000000000"/>
      <p:regular r:id="rId14"/>
    </p:embeddedFont>
    <p:embeddedFont>
      <p:font typeface="Poppins" charset="1" panose="00000500000000000000"/>
      <p:regular r:id="rId15"/>
    </p:embeddedFont>
    <p:embeddedFont>
      <p:font typeface="Poppins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763181" y="-2174277"/>
            <a:ext cx="6405953" cy="6405953"/>
          </a:xfrm>
          <a:custGeom>
            <a:avLst/>
            <a:gdLst/>
            <a:ahLst/>
            <a:cxnLst/>
            <a:rect r="r" b="b" t="t" l="l"/>
            <a:pathLst>
              <a:path h="6405953" w="6405953">
                <a:moveTo>
                  <a:pt x="0" y="0"/>
                </a:moveTo>
                <a:lnTo>
                  <a:pt x="6405954" y="0"/>
                </a:lnTo>
                <a:lnTo>
                  <a:pt x="6405954" y="6405954"/>
                </a:lnTo>
                <a:lnTo>
                  <a:pt x="0" y="64059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1186" y="6005584"/>
            <a:ext cx="9166551" cy="3028109"/>
            <a:chOff x="0" y="0"/>
            <a:chExt cx="2422961" cy="800409"/>
          </a:xfrm>
        </p:grpSpPr>
        <p:sp>
          <p:nvSpPr>
            <p:cNvPr name="Freeform 4" id="4"/>
            <p:cNvSpPr/>
            <p:nvPr/>
          </p:nvSpPr>
          <p:spPr>
            <a:xfrm flipH="false" flipV="false" rot="0">
              <a:off x="0" y="0"/>
              <a:ext cx="2422961" cy="800409"/>
            </a:xfrm>
            <a:custGeom>
              <a:avLst/>
              <a:gdLst/>
              <a:ahLst/>
              <a:cxnLst/>
              <a:rect r="r" b="b" t="t" l="l"/>
              <a:pathLst>
                <a:path h="800409" w="2422961">
                  <a:moveTo>
                    <a:pt x="69256" y="0"/>
                  </a:moveTo>
                  <a:lnTo>
                    <a:pt x="2353705" y="0"/>
                  </a:lnTo>
                  <a:cubicBezTo>
                    <a:pt x="2391954" y="0"/>
                    <a:pt x="2422961" y="31007"/>
                    <a:pt x="2422961" y="69256"/>
                  </a:cubicBezTo>
                  <a:lnTo>
                    <a:pt x="2422961" y="731153"/>
                  </a:lnTo>
                  <a:cubicBezTo>
                    <a:pt x="2422961" y="769402"/>
                    <a:pt x="2391954" y="800409"/>
                    <a:pt x="2353705" y="800409"/>
                  </a:cubicBezTo>
                  <a:lnTo>
                    <a:pt x="69256" y="800409"/>
                  </a:lnTo>
                  <a:cubicBezTo>
                    <a:pt x="31007" y="800409"/>
                    <a:pt x="0" y="769402"/>
                    <a:pt x="0" y="731153"/>
                  </a:cubicBezTo>
                  <a:lnTo>
                    <a:pt x="0" y="69256"/>
                  </a:lnTo>
                  <a:cubicBezTo>
                    <a:pt x="0" y="31007"/>
                    <a:pt x="31007" y="0"/>
                    <a:pt x="69256" y="0"/>
                  </a:cubicBezTo>
                  <a:close/>
                </a:path>
              </a:pathLst>
            </a:custGeom>
            <a:solidFill>
              <a:srgbClr val="FFFFFF">
                <a:alpha val="4706"/>
              </a:srgbClr>
            </a:solidFill>
          </p:spPr>
        </p:sp>
        <p:sp>
          <p:nvSpPr>
            <p:cNvPr name="TextBox 5" id="5"/>
            <p:cNvSpPr txBox="true"/>
            <p:nvPr/>
          </p:nvSpPr>
          <p:spPr>
            <a:xfrm>
              <a:off x="0" y="-171450"/>
              <a:ext cx="2422961" cy="971859"/>
            </a:xfrm>
            <a:prstGeom prst="rect">
              <a:avLst/>
            </a:prstGeom>
          </p:spPr>
          <p:txBody>
            <a:bodyPr anchor="ctr" rtlCol="false" tIns="52378" lIns="52378" bIns="52378" rIns="52378"/>
            <a:lstStyle/>
            <a:p>
              <a:pPr algn="ctr">
                <a:lnSpc>
                  <a:spcPts val="8399"/>
                </a:lnSpc>
                <a:spcBef>
                  <a:spcPct val="0"/>
                </a:spcBef>
              </a:pPr>
            </a:p>
          </p:txBody>
        </p:sp>
      </p:grpSp>
      <p:sp>
        <p:nvSpPr>
          <p:cNvPr name="Freeform 6" id="6"/>
          <p:cNvSpPr/>
          <p:nvPr/>
        </p:nvSpPr>
        <p:spPr>
          <a:xfrm flipH="false" flipV="false" rot="0">
            <a:off x="9454582" y="1390183"/>
            <a:ext cx="5390070" cy="5390070"/>
          </a:xfrm>
          <a:custGeom>
            <a:avLst/>
            <a:gdLst/>
            <a:ahLst/>
            <a:cxnLst/>
            <a:rect r="r" b="b" t="t" l="l"/>
            <a:pathLst>
              <a:path h="5390070" w="5390070">
                <a:moveTo>
                  <a:pt x="0" y="0"/>
                </a:moveTo>
                <a:lnTo>
                  <a:pt x="5390070" y="0"/>
                </a:lnTo>
                <a:lnTo>
                  <a:pt x="5390070" y="5390070"/>
                </a:lnTo>
                <a:lnTo>
                  <a:pt x="0" y="5390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289614" y="5230915"/>
            <a:ext cx="1549338" cy="1549338"/>
          </a:xfrm>
          <a:custGeom>
            <a:avLst/>
            <a:gdLst/>
            <a:ahLst/>
            <a:cxnLst/>
            <a:rect r="r" b="b" t="t" l="l"/>
            <a:pathLst>
              <a:path h="1549338" w="1549338">
                <a:moveTo>
                  <a:pt x="0" y="0"/>
                </a:moveTo>
                <a:lnTo>
                  <a:pt x="1549338" y="0"/>
                </a:lnTo>
                <a:lnTo>
                  <a:pt x="1549338" y="1549338"/>
                </a:lnTo>
                <a:lnTo>
                  <a:pt x="0" y="1549338"/>
                </a:lnTo>
                <a:lnTo>
                  <a:pt x="0" y="0"/>
                </a:lnTo>
                <a:close/>
              </a:path>
            </a:pathLst>
          </a:custGeom>
          <a:blipFill>
            <a:blip r:embed="rId4">
              <a:alphaModFix amt="98000"/>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131186" y="1083721"/>
            <a:ext cx="9369097" cy="3622963"/>
          </a:xfrm>
          <a:prstGeom prst="rect">
            <a:avLst/>
          </a:prstGeom>
        </p:spPr>
        <p:txBody>
          <a:bodyPr anchor="t" rtlCol="false" tIns="0" lIns="0" bIns="0" rIns="0">
            <a:spAutoFit/>
          </a:bodyPr>
          <a:lstStyle/>
          <a:p>
            <a:pPr algn="l">
              <a:lnSpc>
                <a:spcPts val="12563"/>
              </a:lnSpc>
            </a:pPr>
            <a:r>
              <a:rPr lang="en-US" sz="12563">
                <a:solidFill>
                  <a:srgbClr val="FFFFFF"/>
                </a:solidFill>
                <a:latin typeface="Agrandir Grand"/>
                <a:ea typeface="Agrandir Grand"/>
                <a:cs typeface="Agrandir Grand"/>
                <a:sym typeface="Agrandir Grand"/>
              </a:rPr>
              <a:t>PROJECT PLAN</a:t>
            </a:r>
          </a:p>
        </p:txBody>
      </p:sp>
      <p:sp>
        <p:nvSpPr>
          <p:cNvPr name="TextBox 9" id="9"/>
          <p:cNvSpPr txBox="true"/>
          <p:nvPr/>
        </p:nvSpPr>
        <p:spPr>
          <a:xfrm rot="0">
            <a:off x="10979836" y="7878719"/>
            <a:ext cx="5859117" cy="842357"/>
          </a:xfrm>
          <a:prstGeom prst="rect">
            <a:avLst/>
          </a:prstGeom>
        </p:spPr>
        <p:txBody>
          <a:bodyPr anchor="t" rtlCol="false" tIns="0" lIns="0" bIns="0" rIns="0">
            <a:spAutoFit/>
          </a:bodyPr>
          <a:lstStyle/>
          <a:p>
            <a:pPr algn="l">
              <a:lnSpc>
                <a:spcPts val="3183"/>
              </a:lnSpc>
            </a:pPr>
            <a:r>
              <a:rPr lang="en-US" sz="3183" i="true">
                <a:solidFill>
                  <a:srgbClr val="A2A2A2"/>
                </a:solidFill>
                <a:latin typeface="Poppins Italics"/>
                <a:ea typeface="Poppins Italics"/>
                <a:cs typeface="Poppins Italics"/>
                <a:sym typeface="Poppins Italics"/>
              </a:rPr>
              <a:t>Presented By : Nishan Jayasinghe and Phil Majam</a:t>
            </a:r>
          </a:p>
        </p:txBody>
      </p:sp>
      <p:sp>
        <p:nvSpPr>
          <p:cNvPr name="TextBox 10" id="10"/>
          <p:cNvSpPr txBox="true"/>
          <p:nvPr/>
        </p:nvSpPr>
        <p:spPr>
          <a:xfrm rot="0">
            <a:off x="0" y="6406581"/>
            <a:ext cx="11254541" cy="2054664"/>
          </a:xfrm>
          <a:prstGeom prst="rect">
            <a:avLst/>
          </a:prstGeom>
        </p:spPr>
        <p:txBody>
          <a:bodyPr anchor="t" rtlCol="false" tIns="0" lIns="0" bIns="0" rIns="0">
            <a:spAutoFit/>
          </a:bodyPr>
          <a:lstStyle/>
          <a:p>
            <a:pPr algn="ctr">
              <a:lnSpc>
                <a:spcPts val="8585"/>
              </a:lnSpc>
              <a:spcBef>
                <a:spcPct val="0"/>
              </a:spcBef>
            </a:pPr>
            <a:r>
              <a:rPr lang="en-US" sz="6132">
                <a:solidFill>
                  <a:srgbClr val="FFFFFF"/>
                </a:solidFill>
                <a:latin typeface="Poppins"/>
                <a:ea typeface="Poppins"/>
                <a:cs typeface="Poppins"/>
                <a:sym typeface="Poppins"/>
              </a:rPr>
              <a:t>Spend</a:t>
            </a:r>
            <a:r>
              <a:rPr lang="en-US" sz="6132">
                <a:solidFill>
                  <a:srgbClr val="FFFFFF"/>
                </a:solidFill>
                <a:latin typeface="Poppins"/>
                <a:ea typeface="Poppins"/>
                <a:cs typeface="Poppins"/>
                <a:sym typeface="Poppins"/>
              </a:rPr>
              <a:t>o: </a:t>
            </a:r>
          </a:p>
          <a:p>
            <a:pPr algn="ctr">
              <a:lnSpc>
                <a:spcPts val="7465"/>
              </a:lnSpc>
              <a:spcBef>
                <a:spcPct val="0"/>
              </a:spcBef>
            </a:pPr>
            <a:r>
              <a:rPr lang="en-US" sz="5332">
                <a:solidFill>
                  <a:srgbClr val="FFFFFF"/>
                </a:solidFill>
                <a:latin typeface="Poppins"/>
                <a:ea typeface="Poppins"/>
                <a:cs typeface="Poppins"/>
                <a:sym typeface="Poppins"/>
              </a:rPr>
              <a:t>An Expense Tracker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008431" y="4907747"/>
            <a:ext cx="1250869" cy="1250869"/>
          </a:xfrm>
          <a:custGeom>
            <a:avLst/>
            <a:gdLst/>
            <a:ahLst/>
            <a:cxnLst/>
            <a:rect r="r" b="b" t="t" l="l"/>
            <a:pathLst>
              <a:path h="1250869" w="1250869">
                <a:moveTo>
                  <a:pt x="0" y="0"/>
                </a:moveTo>
                <a:lnTo>
                  <a:pt x="1250869" y="0"/>
                </a:lnTo>
                <a:lnTo>
                  <a:pt x="1250869" y="1250869"/>
                </a:lnTo>
                <a:lnTo>
                  <a:pt x="0" y="1250869"/>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7749" y="8053422"/>
            <a:ext cx="3461594" cy="3461594"/>
          </a:xfrm>
          <a:custGeom>
            <a:avLst/>
            <a:gdLst/>
            <a:ahLst/>
            <a:cxnLst/>
            <a:rect r="r" b="b" t="t" l="l"/>
            <a:pathLst>
              <a:path h="3461594" w="3461594">
                <a:moveTo>
                  <a:pt x="0" y="0"/>
                </a:moveTo>
                <a:lnTo>
                  <a:pt x="3461594" y="0"/>
                </a:lnTo>
                <a:lnTo>
                  <a:pt x="3461594" y="3461594"/>
                </a:lnTo>
                <a:lnTo>
                  <a:pt x="0" y="3461594"/>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23048" y="5344667"/>
            <a:ext cx="15241903" cy="3617903"/>
            <a:chOff x="0" y="0"/>
            <a:chExt cx="4063175" cy="964458"/>
          </a:xfrm>
        </p:grpSpPr>
        <p:sp>
          <p:nvSpPr>
            <p:cNvPr name="Freeform 5" id="5"/>
            <p:cNvSpPr/>
            <p:nvPr/>
          </p:nvSpPr>
          <p:spPr>
            <a:xfrm flipH="false" flipV="false" rot="0">
              <a:off x="0" y="0"/>
              <a:ext cx="4063176" cy="964458"/>
            </a:xfrm>
            <a:custGeom>
              <a:avLst/>
              <a:gdLst/>
              <a:ahLst/>
              <a:cxnLst/>
              <a:rect r="r" b="b" t="t" l="l"/>
              <a:pathLst>
                <a:path h="964458" w="4063176">
                  <a:moveTo>
                    <a:pt x="41651" y="0"/>
                  </a:moveTo>
                  <a:lnTo>
                    <a:pt x="4021525" y="0"/>
                  </a:lnTo>
                  <a:cubicBezTo>
                    <a:pt x="4044528" y="0"/>
                    <a:pt x="4063176" y="18648"/>
                    <a:pt x="4063176" y="41651"/>
                  </a:cubicBezTo>
                  <a:lnTo>
                    <a:pt x="4063176" y="922807"/>
                  </a:lnTo>
                  <a:cubicBezTo>
                    <a:pt x="4063176" y="933854"/>
                    <a:pt x="4058788" y="944448"/>
                    <a:pt x="4050976" y="952259"/>
                  </a:cubicBezTo>
                  <a:cubicBezTo>
                    <a:pt x="4043165" y="960070"/>
                    <a:pt x="4032571" y="964458"/>
                    <a:pt x="4021525" y="964458"/>
                  </a:cubicBezTo>
                  <a:lnTo>
                    <a:pt x="41651" y="964458"/>
                  </a:lnTo>
                  <a:cubicBezTo>
                    <a:pt x="18648" y="964458"/>
                    <a:pt x="0" y="945810"/>
                    <a:pt x="0" y="922807"/>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sp>
        <p:sp>
          <p:nvSpPr>
            <p:cNvPr name="TextBox 6" id="6"/>
            <p:cNvSpPr txBox="true"/>
            <p:nvPr/>
          </p:nvSpPr>
          <p:spPr>
            <a:xfrm>
              <a:off x="0" y="-57150"/>
              <a:ext cx="4063175" cy="1021608"/>
            </a:xfrm>
            <a:prstGeom prst="rect">
              <a:avLst/>
            </a:prstGeom>
          </p:spPr>
          <p:txBody>
            <a:bodyPr anchor="ctr" rtlCol="false" tIns="52257" lIns="52257" bIns="52257" rIns="52257"/>
            <a:lstStyle/>
            <a:p>
              <a:pPr algn="ctr">
                <a:lnSpc>
                  <a:spcPts val="2660"/>
                </a:lnSpc>
                <a:spcBef>
                  <a:spcPct val="0"/>
                </a:spcBef>
              </a:pPr>
            </a:p>
          </p:txBody>
        </p:sp>
      </p:grpSp>
      <p:sp>
        <p:nvSpPr>
          <p:cNvPr name="TextBox 7" id="7"/>
          <p:cNvSpPr txBox="true"/>
          <p:nvPr/>
        </p:nvSpPr>
        <p:spPr>
          <a:xfrm rot="0">
            <a:off x="1523048" y="3328440"/>
            <a:ext cx="15241903" cy="1332725"/>
          </a:xfrm>
          <a:prstGeom prst="rect">
            <a:avLst/>
          </a:prstGeom>
        </p:spPr>
        <p:txBody>
          <a:bodyPr anchor="t" rtlCol="false" tIns="0" lIns="0" bIns="0" rIns="0">
            <a:spAutoFit/>
          </a:bodyPr>
          <a:lstStyle/>
          <a:p>
            <a:pPr algn="l">
              <a:lnSpc>
                <a:spcPts val="8219"/>
              </a:lnSpc>
            </a:pPr>
            <a:r>
              <a:rPr lang="en-US" sz="8219">
                <a:solidFill>
                  <a:srgbClr val="FFFFFF"/>
                </a:solidFill>
                <a:latin typeface="Agrandir Grand"/>
                <a:ea typeface="Agrandir Grand"/>
                <a:cs typeface="Agrandir Grand"/>
                <a:sym typeface="Agrandir Grand"/>
              </a:rPr>
              <a:t>PROBLEM STATEMENT</a:t>
            </a:r>
          </a:p>
        </p:txBody>
      </p:sp>
      <p:sp>
        <p:nvSpPr>
          <p:cNvPr name="TextBox 8" id="8"/>
          <p:cNvSpPr txBox="true"/>
          <p:nvPr/>
        </p:nvSpPr>
        <p:spPr>
          <a:xfrm rot="0">
            <a:off x="2403593" y="5921722"/>
            <a:ext cx="13083680" cy="2911468"/>
          </a:xfrm>
          <a:prstGeom prst="rect">
            <a:avLst/>
          </a:prstGeom>
        </p:spPr>
        <p:txBody>
          <a:bodyPr anchor="t" rtlCol="false" tIns="0" lIns="0" bIns="0" rIns="0">
            <a:spAutoFit/>
          </a:bodyPr>
          <a:lstStyle/>
          <a:p>
            <a:pPr algn="just">
              <a:lnSpc>
                <a:spcPts val="3249"/>
              </a:lnSpc>
            </a:pPr>
            <a:r>
              <a:rPr lang="en-US" sz="3249">
                <a:solidFill>
                  <a:srgbClr val="FFFFFF"/>
                </a:solidFill>
                <a:latin typeface="Poppins"/>
                <a:ea typeface="Poppins"/>
                <a:cs typeface="Poppins"/>
                <a:sym typeface="Poppins"/>
              </a:rPr>
              <a:t>Financial literacy is a very important skill for everyone to learn because it helps with money management, avoiding financial stress, promoting financial independence and making better decisions with money. Sadly though, in my observations of myself, classmates, family and friends not a lot of us are that financially smart so we plan to help foster this skill in them and other people like us.</a:t>
            </a:r>
          </a:p>
        </p:txBody>
      </p:sp>
      <p:sp>
        <p:nvSpPr>
          <p:cNvPr name="Freeform 9" id="9"/>
          <p:cNvSpPr/>
          <p:nvPr/>
        </p:nvSpPr>
        <p:spPr>
          <a:xfrm flipH="false" flipV="false" rot="0">
            <a:off x="1523048" y="167006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a:off x="2965365" y="1857823"/>
            <a:ext cx="7555869" cy="9525"/>
          </a:xfrm>
          <a:prstGeom prst="line">
            <a:avLst/>
          </a:prstGeom>
          <a:ln cap="flat" w="19050">
            <a:solidFill>
              <a:srgbClr val="4C4C4C"/>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895070" y="4599905"/>
            <a:ext cx="7493210" cy="7493210"/>
          </a:xfrm>
          <a:custGeom>
            <a:avLst/>
            <a:gdLst/>
            <a:ahLst/>
            <a:cxnLst/>
            <a:rect r="r" b="b" t="t" l="l"/>
            <a:pathLst>
              <a:path h="7493210" w="7493210">
                <a:moveTo>
                  <a:pt x="0" y="0"/>
                </a:moveTo>
                <a:lnTo>
                  <a:pt x="7493209" y="0"/>
                </a:lnTo>
                <a:lnTo>
                  <a:pt x="7493209" y="7493210"/>
                </a:lnTo>
                <a:lnTo>
                  <a:pt x="0" y="74932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95837" y="2294612"/>
            <a:ext cx="1811491" cy="1811491"/>
          </a:xfrm>
          <a:custGeom>
            <a:avLst/>
            <a:gdLst/>
            <a:ahLst/>
            <a:cxnLst/>
            <a:rect r="r" b="b" t="t" l="l"/>
            <a:pathLst>
              <a:path h="1811491" w="1811491">
                <a:moveTo>
                  <a:pt x="0" y="0"/>
                </a:moveTo>
                <a:lnTo>
                  <a:pt x="1811492" y="0"/>
                </a:lnTo>
                <a:lnTo>
                  <a:pt x="1811492" y="1811492"/>
                </a:lnTo>
                <a:lnTo>
                  <a:pt x="0" y="1811492"/>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1652782" y="7430964"/>
            <a:ext cx="13462910" cy="0"/>
          </a:xfrm>
          <a:prstGeom prst="line">
            <a:avLst/>
          </a:prstGeom>
          <a:ln cap="flat" w="19050">
            <a:solidFill>
              <a:srgbClr val="4C4C4C"/>
            </a:solidFill>
            <a:prstDash val="solid"/>
            <a:headEnd type="none" len="sm" w="sm"/>
            <a:tailEnd type="none" len="sm" w="sm"/>
          </a:ln>
        </p:spPr>
      </p:sp>
      <p:sp>
        <p:nvSpPr>
          <p:cNvPr name="TextBox 5" id="5"/>
          <p:cNvSpPr txBox="true"/>
          <p:nvPr/>
        </p:nvSpPr>
        <p:spPr>
          <a:xfrm rot="0">
            <a:off x="3387618" y="1066275"/>
            <a:ext cx="9993237" cy="2370950"/>
          </a:xfrm>
          <a:prstGeom prst="rect">
            <a:avLst/>
          </a:prstGeom>
        </p:spPr>
        <p:txBody>
          <a:bodyPr anchor="t" rtlCol="false" tIns="0" lIns="0" bIns="0" rIns="0">
            <a:spAutoFit/>
          </a:bodyPr>
          <a:lstStyle/>
          <a:p>
            <a:pPr algn="r">
              <a:lnSpc>
                <a:spcPts val="8219"/>
              </a:lnSpc>
            </a:pPr>
            <a:r>
              <a:rPr lang="en-US" sz="8219">
                <a:solidFill>
                  <a:srgbClr val="FFFFFF"/>
                </a:solidFill>
                <a:latin typeface="Agrandir Grand"/>
                <a:ea typeface="Agrandir Grand"/>
                <a:cs typeface="Agrandir Grand"/>
                <a:sym typeface="Agrandir Grand"/>
              </a:rPr>
              <a:t>      PROJECT            </a:t>
            </a:r>
          </a:p>
          <a:p>
            <a:pPr algn="r">
              <a:lnSpc>
                <a:spcPts val="8219"/>
              </a:lnSpc>
            </a:pPr>
            <a:r>
              <a:rPr lang="en-US" sz="8219">
                <a:solidFill>
                  <a:srgbClr val="FFFFFF"/>
                </a:solidFill>
                <a:latin typeface="Agrandir Grand"/>
                <a:ea typeface="Agrandir Grand"/>
                <a:cs typeface="Agrandir Grand"/>
                <a:sym typeface="Agrandir Grand"/>
              </a:rPr>
              <a:t>OBJECTIVE     </a:t>
            </a:r>
          </a:p>
        </p:txBody>
      </p:sp>
      <p:sp>
        <p:nvSpPr>
          <p:cNvPr name="Freeform 6" id="6"/>
          <p:cNvSpPr/>
          <p:nvPr/>
        </p:nvSpPr>
        <p:spPr>
          <a:xfrm flipH="false" flipV="false" rot="0">
            <a:off x="1523048" y="1712986"/>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0" y="5476155"/>
            <a:ext cx="18045296" cy="1801896"/>
          </a:xfrm>
          <a:prstGeom prst="rect">
            <a:avLst/>
          </a:prstGeom>
        </p:spPr>
        <p:txBody>
          <a:bodyPr anchor="t" rtlCol="false" tIns="0" lIns="0" bIns="0" rIns="0">
            <a:spAutoFit/>
          </a:bodyPr>
          <a:lstStyle/>
          <a:p>
            <a:pPr algn="ctr">
              <a:lnSpc>
                <a:spcPts val="3563"/>
              </a:lnSpc>
              <a:spcBef>
                <a:spcPct val="0"/>
              </a:spcBef>
            </a:pPr>
            <a:r>
              <a:rPr lang="en-US" sz="2545">
                <a:solidFill>
                  <a:srgbClr val="FFFFFF"/>
                </a:solidFill>
                <a:latin typeface="Poppins"/>
                <a:ea typeface="Poppins"/>
                <a:cs typeface="Poppins"/>
                <a:sym typeface="Poppins"/>
              </a:rPr>
              <a:t>This project’s objective is to create a web page that serves as an easy to use expense tracker with features like adding money to your balance, deducting money, classifying and recording expenses and to view the list of your transactions. This is for anyone to use but most importantly teens and young adults to help foster financial literacy within them.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64915" y="8452439"/>
            <a:ext cx="5020845" cy="5020845"/>
          </a:xfrm>
          <a:custGeom>
            <a:avLst/>
            <a:gdLst/>
            <a:ahLst/>
            <a:cxnLst/>
            <a:rect r="r" b="b" t="t" l="l"/>
            <a:pathLst>
              <a:path h="5020845" w="5020845">
                <a:moveTo>
                  <a:pt x="0" y="0"/>
                </a:moveTo>
                <a:lnTo>
                  <a:pt x="5020846" y="0"/>
                </a:lnTo>
                <a:lnTo>
                  <a:pt x="5020846" y="5020845"/>
                </a:lnTo>
                <a:lnTo>
                  <a:pt x="0" y="5020845"/>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84027" y="4498255"/>
            <a:ext cx="2774206" cy="2774206"/>
          </a:xfrm>
          <a:custGeom>
            <a:avLst/>
            <a:gdLst/>
            <a:ahLst/>
            <a:cxnLst/>
            <a:rect r="r" b="b" t="t" l="l"/>
            <a:pathLst>
              <a:path h="2774206" w="2774206">
                <a:moveTo>
                  <a:pt x="0" y="0"/>
                </a:moveTo>
                <a:lnTo>
                  <a:pt x="2774205" y="0"/>
                </a:lnTo>
                <a:lnTo>
                  <a:pt x="2774205" y="2774206"/>
                </a:lnTo>
                <a:lnTo>
                  <a:pt x="0" y="2774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27703" y="6171571"/>
            <a:ext cx="1306722" cy="1306722"/>
          </a:xfrm>
          <a:custGeom>
            <a:avLst/>
            <a:gdLst/>
            <a:ahLst/>
            <a:cxnLst/>
            <a:rect r="r" b="b" t="t" l="l"/>
            <a:pathLst>
              <a:path h="1306722" w="1306722">
                <a:moveTo>
                  <a:pt x="0" y="0"/>
                </a:moveTo>
                <a:lnTo>
                  <a:pt x="1306722" y="0"/>
                </a:lnTo>
                <a:lnTo>
                  <a:pt x="1306722" y="1306722"/>
                </a:lnTo>
                <a:lnTo>
                  <a:pt x="0" y="1306722"/>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87402" y="1681627"/>
            <a:ext cx="6935736" cy="1332725"/>
          </a:xfrm>
          <a:prstGeom prst="rect">
            <a:avLst/>
          </a:prstGeom>
        </p:spPr>
        <p:txBody>
          <a:bodyPr anchor="t" rtlCol="false" tIns="0" lIns="0" bIns="0" rIns="0">
            <a:spAutoFit/>
          </a:bodyPr>
          <a:lstStyle/>
          <a:p>
            <a:pPr algn="l">
              <a:lnSpc>
                <a:spcPts val="8219"/>
              </a:lnSpc>
            </a:pPr>
            <a:r>
              <a:rPr lang="en-US" sz="8219">
                <a:solidFill>
                  <a:srgbClr val="FFFFFF"/>
                </a:solidFill>
                <a:latin typeface="Agrandir Grand"/>
                <a:ea typeface="Agrandir Grand"/>
                <a:cs typeface="Agrandir Grand"/>
                <a:sym typeface="Agrandir Grand"/>
              </a:rPr>
              <a:t>FEATURES:</a:t>
            </a:r>
          </a:p>
        </p:txBody>
      </p:sp>
      <p:sp>
        <p:nvSpPr>
          <p:cNvPr name="TextBox 6" id="6"/>
          <p:cNvSpPr txBox="true"/>
          <p:nvPr/>
        </p:nvSpPr>
        <p:spPr>
          <a:xfrm rot="0">
            <a:off x="1523048" y="6192657"/>
            <a:ext cx="5304579" cy="438782"/>
          </a:xfrm>
          <a:prstGeom prst="rect">
            <a:avLst/>
          </a:prstGeom>
        </p:spPr>
        <p:txBody>
          <a:bodyPr anchor="t" rtlCol="false" tIns="0" lIns="0" bIns="0" rIns="0">
            <a:spAutoFit/>
          </a:bodyPr>
          <a:lstStyle/>
          <a:p>
            <a:pPr algn="l">
              <a:lnSpc>
                <a:spcPts val="3149"/>
              </a:lnSpc>
            </a:pPr>
          </a:p>
        </p:txBody>
      </p:sp>
      <p:grpSp>
        <p:nvGrpSpPr>
          <p:cNvPr name="Group 7" id="7"/>
          <p:cNvGrpSpPr/>
          <p:nvPr/>
        </p:nvGrpSpPr>
        <p:grpSpPr>
          <a:xfrm rot="0">
            <a:off x="8900965" y="1462710"/>
            <a:ext cx="8306167" cy="1727736"/>
            <a:chOff x="0" y="0"/>
            <a:chExt cx="11074890" cy="2303647"/>
          </a:xfrm>
        </p:grpSpPr>
        <p:grpSp>
          <p:nvGrpSpPr>
            <p:cNvPr name="Group 8" id="8"/>
            <p:cNvGrpSpPr/>
            <p:nvPr/>
          </p:nvGrpSpPr>
          <p:grpSpPr>
            <a:xfrm rot="0">
              <a:off x="0" y="0"/>
              <a:ext cx="11074890" cy="2303647"/>
              <a:chOff x="0" y="0"/>
              <a:chExt cx="2214252" cy="460578"/>
            </a:xfrm>
          </p:grpSpPr>
          <p:sp>
            <p:nvSpPr>
              <p:cNvPr name="Freeform 9" id="9"/>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10" id="10"/>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grpSp>
          <p:nvGrpSpPr>
            <p:cNvPr name="Group 11" id="11"/>
            <p:cNvGrpSpPr/>
            <p:nvPr/>
          </p:nvGrpSpPr>
          <p:grpSpPr>
            <a:xfrm rot="0">
              <a:off x="640324" y="626471"/>
              <a:ext cx="1050706" cy="105070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14" id="14"/>
            <p:cNvSpPr txBox="true"/>
            <p:nvPr/>
          </p:nvSpPr>
          <p:spPr>
            <a:xfrm rot="0">
              <a:off x="1983267" y="941825"/>
              <a:ext cx="8107944" cy="439047"/>
            </a:xfrm>
            <a:prstGeom prst="rect">
              <a:avLst/>
            </a:prstGeom>
          </p:spPr>
          <p:txBody>
            <a:bodyPr anchor="t" rtlCol="false" tIns="0" lIns="0" bIns="0" rIns="0">
              <a:spAutoFit/>
            </a:bodyPr>
            <a:lstStyle/>
            <a:p>
              <a:pPr algn="l">
                <a:lnSpc>
                  <a:spcPts val="2276"/>
                </a:lnSpc>
              </a:pPr>
              <a:r>
                <a:rPr lang="en-US" sz="2276">
                  <a:solidFill>
                    <a:srgbClr val="FFFFFF"/>
                  </a:solidFill>
                  <a:latin typeface="Poppins"/>
                  <a:ea typeface="Poppins"/>
                  <a:cs typeface="Poppins"/>
                  <a:sym typeface="Poppins"/>
                </a:rPr>
                <a:t>Balance constantly in view</a:t>
              </a:r>
            </a:p>
          </p:txBody>
        </p:sp>
        <p:sp>
          <p:nvSpPr>
            <p:cNvPr name="TextBox 15" id="15"/>
            <p:cNvSpPr txBox="true"/>
            <p:nvPr/>
          </p:nvSpPr>
          <p:spPr>
            <a:xfrm rot="0">
              <a:off x="891077" y="941825"/>
              <a:ext cx="549201" cy="439047"/>
            </a:xfrm>
            <a:prstGeom prst="rect">
              <a:avLst/>
            </a:prstGeom>
          </p:spPr>
          <p:txBody>
            <a:bodyPr anchor="t" rtlCol="false" tIns="0" lIns="0" bIns="0" rIns="0">
              <a:spAutoFit/>
            </a:bodyPr>
            <a:lstStyle/>
            <a:p>
              <a:pPr algn="ctr">
                <a:lnSpc>
                  <a:spcPts val="2276"/>
                </a:lnSpc>
              </a:pPr>
              <a:r>
                <a:rPr lang="en-US" b="true" sz="2276">
                  <a:solidFill>
                    <a:srgbClr val="FFFFFF"/>
                  </a:solidFill>
                  <a:latin typeface="Poppins Bold"/>
                  <a:ea typeface="Poppins Bold"/>
                  <a:cs typeface="Poppins Bold"/>
                  <a:sym typeface="Poppins Bold"/>
                </a:rPr>
                <a:t>01</a:t>
              </a:r>
            </a:p>
          </p:txBody>
        </p:sp>
      </p:grpSp>
      <p:grpSp>
        <p:nvGrpSpPr>
          <p:cNvPr name="Group 16" id="16"/>
          <p:cNvGrpSpPr/>
          <p:nvPr/>
        </p:nvGrpSpPr>
        <p:grpSpPr>
          <a:xfrm rot="0">
            <a:off x="8900965" y="3399996"/>
            <a:ext cx="8306167" cy="1759697"/>
            <a:chOff x="0" y="0"/>
            <a:chExt cx="11074890" cy="2346262"/>
          </a:xfrm>
        </p:grpSpPr>
        <p:grpSp>
          <p:nvGrpSpPr>
            <p:cNvPr name="Group 17" id="17"/>
            <p:cNvGrpSpPr/>
            <p:nvPr/>
          </p:nvGrpSpPr>
          <p:grpSpPr>
            <a:xfrm rot="0">
              <a:off x="0" y="0"/>
              <a:ext cx="11074890" cy="2346262"/>
              <a:chOff x="0" y="0"/>
              <a:chExt cx="2214252" cy="469099"/>
            </a:xfrm>
          </p:grpSpPr>
          <p:sp>
            <p:nvSpPr>
              <p:cNvPr name="Freeform 18" id="18"/>
              <p:cNvSpPr/>
              <p:nvPr/>
            </p:nvSpPr>
            <p:spPr>
              <a:xfrm flipH="false" flipV="false" rot="0">
                <a:off x="0" y="0"/>
                <a:ext cx="2214252" cy="469099"/>
              </a:xfrm>
              <a:custGeom>
                <a:avLst/>
                <a:gdLst/>
                <a:ahLst/>
                <a:cxnLst/>
                <a:rect r="r" b="b" t="t" l="l"/>
                <a:pathLst>
                  <a:path h="469099" w="2214252">
                    <a:moveTo>
                      <a:pt x="76430" y="0"/>
                    </a:moveTo>
                    <a:lnTo>
                      <a:pt x="2137822" y="0"/>
                    </a:lnTo>
                    <a:cubicBezTo>
                      <a:pt x="2158093" y="0"/>
                      <a:pt x="2177533" y="8052"/>
                      <a:pt x="2191866" y="22386"/>
                    </a:cubicBezTo>
                    <a:cubicBezTo>
                      <a:pt x="2206200" y="36719"/>
                      <a:pt x="2214252" y="56159"/>
                      <a:pt x="2214252" y="76430"/>
                    </a:cubicBezTo>
                    <a:lnTo>
                      <a:pt x="2214252" y="392669"/>
                    </a:lnTo>
                    <a:cubicBezTo>
                      <a:pt x="2214252" y="434880"/>
                      <a:pt x="2180033" y="469099"/>
                      <a:pt x="2137822" y="469099"/>
                    </a:cubicBezTo>
                    <a:lnTo>
                      <a:pt x="76430" y="469099"/>
                    </a:lnTo>
                    <a:cubicBezTo>
                      <a:pt x="56159" y="469099"/>
                      <a:pt x="36719" y="461046"/>
                      <a:pt x="22386" y="446713"/>
                    </a:cubicBezTo>
                    <a:cubicBezTo>
                      <a:pt x="8052" y="432380"/>
                      <a:pt x="0" y="412939"/>
                      <a:pt x="0" y="39266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19" id="19"/>
              <p:cNvSpPr txBox="true"/>
              <p:nvPr/>
            </p:nvSpPr>
            <p:spPr>
              <a:xfrm>
                <a:off x="0" y="-57150"/>
                <a:ext cx="2214252" cy="526249"/>
              </a:xfrm>
              <a:prstGeom prst="rect">
                <a:avLst/>
              </a:prstGeom>
            </p:spPr>
            <p:txBody>
              <a:bodyPr anchor="ctr" rtlCol="false" tIns="52257" lIns="52257" bIns="52257" rIns="52257"/>
              <a:lstStyle/>
              <a:p>
                <a:pPr algn="ctr">
                  <a:lnSpc>
                    <a:spcPts val="2660"/>
                  </a:lnSpc>
                  <a:spcBef>
                    <a:spcPct val="0"/>
                  </a:spcBef>
                </a:pPr>
              </a:p>
            </p:txBody>
          </p:sp>
        </p:grpSp>
        <p:grpSp>
          <p:nvGrpSpPr>
            <p:cNvPr name="Group 20" id="20"/>
            <p:cNvGrpSpPr/>
            <p:nvPr/>
          </p:nvGrpSpPr>
          <p:grpSpPr>
            <a:xfrm rot="0">
              <a:off x="913621" y="628758"/>
              <a:ext cx="1050706" cy="105070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23" id="23"/>
            <p:cNvSpPr txBox="true"/>
            <p:nvPr/>
          </p:nvSpPr>
          <p:spPr>
            <a:xfrm rot="0">
              <a:off x="2256564" y="909300"/>
              <a:ext cx="8107944" cy="812779"/>
            </a:xfrm>
            <a:prstGeom prst="rect">
              <a:avLst/>
            </a:prstGeom>
          </p:spPr>
          <p:txBody>
            <a:bodyPr anchor="t" rtlCol="false" tIns="0" lIns="0" bIns="0" rIns="0">
              <a:spAutoFit/>
            </a:bodyPr>
            <a:lstStyle/>
            <a:p>
              <a:pPr algn="l">
                <a:lnSpc>
                  <a:spcPts val="2276"/>
                </a:lnSpc>
              </a:pPr>
              <a:r>
                <a:rPr lang="en-US" sz="2276">
                  <a:solidFill>
                    <a:srgbClr val="FFFFFF"/>
                  </a:solidFill>
                  <a:latin typeface="Poppins"/>
                  <a:ea typeface="Poppins"/>
                  <a:cs typeface="Poppins"/>
                  <a:sym typeface="Poppins"/>
                </a:rPr>
                <a:t>Adding and deducting money from balance</a:t>
              </a:r>
            </a:p>
          </p:txBody>
        </p:sp>
        <p:sp>
          <p:nvSpPr>
            <p:cNvPr name="TextBox 24" id="24"/>
            <p:cNvSpPr txBox="true"/>
            <p:nvPr/>
          </p:nvSpPr>
          <p:spPr>
            <a:xfrm rot="0">
              <a:off x="1164374" y="941825"/>
              <a:ext cx="549201" cy="439047"/>
            </a:xfrm>
            <a:prstGeom prst="rect">
              <a:avLst/>
            </a:prstGeom>
          </p:spPr>
          <p:txBody>
            <a:bodyPr anchor="t" rtlCol="false" tIns="0" lIns="0" bIns="0" rIns="0">
              <a:spAutoFit/>
            </a:bodyPr>
            <a:lstStyle/>
            <a:p>
              <a:pPr algn="ctr">
                <a:lnSpc>
                  <a:spcPts val="2276"/>
                </a:lnSpc>
              </a:pPr>
              <a:r>
                <a:rPr lang="en-US" b="true" sz="2276">
                  <a:solidFill>
                    <a:srgbClr val="FFFFFF"/>
                  </a:solidFill>
                  <a:latin typeface="Poppins Bold"/>
                  <a:ea typeface="Poppins Bold"/>
                  <a:cs typeface="Poppins Bold"/>
                  <a:sym typeface="Poppins Bold"/>
                </a:rPr>
                <a:t>02</a:t>
              </a:r>
            </a:p>
          </p:txBody>
        </p:sp>
      </p:grpSp>
      <p:grpSp>
        <p:nvGrpSpPr>
          <p:cNvPr name="Group 25" id="25"/>
          <p:cNvGrpSpPr/>
          <p:nvPr/>
        </p:nvGrpSpPr>
        <p:grpSpPr>
          <a:xfrm rot="0">
            <a:off x="8734425" y="5458050"/>
            <a:ext cx="8306167" cy="1727736"/>
            <a:chOff x="0" y="0"/>
            <a:chExt cx="11074890" cy="2303647"/>
          </a:xfrm>
        </p:grpSpPr>
        <p:grpSp>
          <p:nvGrpSpPr>
            <p:cNvPr name="Group 26" id="26"/>
            <p:cNvGrpSpPr/>
            <p:nvPr/>
          </p:nvGrpSpPr>
          <p:grpSpPr>
            <a:xfrm rot="0">
              <a:off x="0" y="0"/>
              <a:ext cx="11074890" cy="2303647"/>
              <a:chOff x="0" y="0"/>
              <a:chExt cx="2214252" cy="460578"/>
            </a:xfrm>
          </p:grpSpPr>
          <p:sp>
            <p:nvSpPr>
              <p:cNvPr name="Freeform 27" id="27"/>
              <p:cNvSpPr/>
              <p:nvPr/>
            </p:nvSpPr>
            <p:spPr>
              <a:xfrm flipH="false" flipV="false" rot="0">
                <a:off x="0" y="0"/>
                <a:ext cx="2214252" cy="460578"/>
              </a:xfrm>
              <a:custGeom>
                <a:avLst/>
                <a:gdLst/>
                <a:ahLst/>
                <a:cxnLst/>
                <a:rect r="r" b="b" t="t" l="l"/>
                <a:pathLst>
                  <a:path h="460578" w="2214252">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28" id="28"/>
              <p:cNvSpPr txBox="true"/>
              <p:nvPr/>
            </p:nvSpPr>
            <p:spPr>
              <a:xfrm>
                <a:off x="0" y="-57150"/>
                <a:ext cx="2214252" cy="517728"/>
              </a:xfrm>
              <a:prstGeom prst="rect">
                <a:avLst/>
              </a:prstGeom>
            </p:spPr>
            <p:txBody>
              <a:bodyPr anchor="ctr" rtlCol="false" tIns="52257" lIns="52257" bIns="52257" rIns="52257"/>
              <a:lstStyle/>
              <a:p>
                <a:pPr algn="ctr">
                  <a:lnSpc>
                    <a:spcPts val="2660"/>
                  </a:lnSpc>
                  <a:spcBef>
                    <a:spcPct val="0"/>
                  </a:spcBef>
                </a:pPr>
              </a:p>
            </p:txBody>
          </p:sp>
        </p:grpSp>
        <p:grpSp>
          <p:nvGrpSpPr>
            <p:cNvPr name="Group 29" id="29"/>
            <p:cNvGrpSpPr/>
            <p:nvPr/>
          </p:nvGrpSpPr>
          <p:grpSpPr>
            <a:xfrm rot="0">
              <a:off x="913621" y="596900"/>
              <a:ext cx="1050706" cy="105070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31" id="31"/>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32" id="32"/>
            <p:cNvSpPr txBox="true"/>
            <p:nvPr/>
          </p:nvSpPr>
          <p:spPr>
            <a:xfrm rot="0">
              <a:off x="2256564" y="877442"/>
              <a:ext cx="8107944" cy="435413"/>
            </a:xfrm>
            <a:prstGeom prst="rect">
              <a:avLst/>
            </a:prstGeom>
          </p:spPr>
          <p:txBody>
            <a:bodyPr anchor="t" rtlCol="false" tIns="0" lIns="0" bIns="0" rIns="0">
              <a:spAutoFit/>
            </a:bodyPr>
            <a:lstStyle/>
            <a:p>
              <a:pPr algn="l">
                <a:lnSpc>
                  <a:spcPts val="2276"/>
                </a:lnSpc>
              </a:pPr>
              <a:r>
                <a:rPr lang="en-US" sz="2276">
                  <a:solidFill>
                    <a:srgbClr val="FFFFFF"/>
                  </a:solidFill>
                  <a:latin typeface="Poppins"/>
                  <a:ea typeface="Poppins"/>
                  <a:cs typeface="Poppins"/>
                  <a:sym typeface="Poppins"/>
                </a:rPr>
                <a:t>Classifying Purchases</a:t>
              </a:r>
            </a:p>
          </p:txBody>
        </p:sp>
        <p:sp>
          <p:nvSpPr>
            <p:cNvPr name="TextBox 33" id="33"/>
            <p:cNvSpPr txBox="true"/>
            <p:nvPr/>
          </p:nvSpPr>
          <p:spPr>
            <a:xfrm rot="0">
              <a:off x="1164374" y="908050"/>
              <a:ext cx="549201" cy="439047"/>
            </a:xfrm>
            <a:prstGeom prst="rect">
              <a:avLst/>
            </a:prstGeom>
          </p:spPr>
          <p:txBody>
            <a:bodyPr anchor="t" rtlCol="false" tIns="0" lIns="0" bIns="0" rIns="0">
              <a:spAutoFit/>
            </a:bodyPr>
            <a:lstStyle/>
            <a:p>
              <a:pPr algn="ctr">
                <a:lnSpc>
                  <a:spcPts val="2276"/>
                </a:lnSpc>
              </a:pPr>
              <a:r>
                <a:rPr lang="en-US" b="true" sz="2276">
                  <a:solidFill>
                    <a:srgbClr val="FFFFFF"/>
                  </a:solidFill>
                  <a:latin typeface="Poppins Bold"/>
                  <a:ea typeface="Poppins Bold"/>
                  <a:cs typeface="Poppins Bold"/>
                  <a:sym typeface="Poppins Bold"/>
                </a:rPr>
                <a:t>03</a:t>
              </a:r>
            </a:p>
          </p:txBody>
        </p:sp>
      </p:grpSp>
      <p:sp>
        <p:nvSpPr>
          <p:cNvPr name="Freeform 34" id="34"/>
          <p:cNvSpPr/>
          <p:nvPr/>
        </p:nvSpPr>
        <p:spPr>
          <a:xfrm flipH="false" flipV="false" rot="0">
            <a:off x="1523048" y="1056279"/>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35" id="35"/>
          <p:cNvSpPr/>
          <p:nvPr/>
        </p:nvSpPr>
        <p:spPr>
          <a:xfrm>
            <a:off x="2690042" y="1229745"/>
            <a:ext cx="7555869" cy="9525"/>
          </a:xfrm>
          <a:prstGeom prst="line">
            <a:avLst/>
          </a:prstGeom>
          <a:ln cap="flat" w="19050">
            <a:solidFill>
              <a:srgbClr val="4C4C4C"/>
            </a:solidFill>
            <a:prstDash val="solid"/>
            <a:headEnd type="none" len="sm" w="sm"/>
            <a:tailEnd type="none" len="sm" w="sm"/>
          </a:ln>
        </p:spPr>
      </p:sp>
      <p:grpSp>
        <p:nvGrpSpPr>
          <p:cNvPr name="Group 36" id="36"/>
          <p:cNvGrpSpPr/>
          <p:nvPr/>
        </p:nvGrpSpPr>
        <p:grpSpPr>
          <a:xfrm rot="0">
            <a:off x="8677859" y="7376286"/>
            <a:ext cx="8306167" cy="1759697"/>
            <a:chOff x="0" y="0"/>
            <a:chExt cx="11074890" cy="2346262"/>
          </a:xfrm>
        </p:grpSpPr>
        <p:grpSp>
          <p:nvGrpSpPr>
            <p:cNvPr name="Group 37" id="37"/>
            <p:cNvGrpSpPr/>
            <p:nvPr/>
          </p:nvGrpSpPr>
          <p:grpSpPr>
            <a:xfrm rot="0">
              <a:off x="0" y="0"/>
              <a:ext cx="11074890" cy="2346262"/>
              <a:chOff x="0" y="0"/>
              <a:chExt cx="2214252" cy="469099"/>
            </a:xfrm>
          </p:grpSpPr>
          <p:sp>
            <p:nvSpPr>
              <p:cNvPr name="Freeform 38" id="38"/>
              <p:cNvSpPr/>
              <p:nvPr/>
            </p:nvSpPr>
            <p:spPr>
              <a:xfrm flipH="false" flipV="false" rot="0">
                <a:off x="0" y="0"/>
                <a:ext cx="2214252" cy="469099"/>
              </a:xfrm>
              <a:custGeom>
                <a:avLst/>
                <a:gdLst/>
                <a:ahLst/>
                <a:cxnLst/>
                <a:rect r="r" b="b" t="t" l="l"/>
                <a:pathLst>
                  <a:path h="469099" w="2214252">
                    <a:moveTo>
                      <a:pt x="76430" y="0"/>
                    </a:moveTo>
                    <a:lnTo>
                      <a:pt x="2137822" y="0"/>
                    </a:lnTo>
                    <a:cubicBezTo>
                      <a:pt x="2158093" y="0"/>
                      <a:pt x="2177533" y="8052"/>
                      <a:pt x="2191866" y="22386"/>
                    </a:cubicBezTo>
                    <a:cubicBezTo>
                      <a:pt x="2206200" y="36719"/>
                      <a:pt x="2214252" y="56159"/>
                      <a:pt x="2214252" y="76430"/>
                    </a:cubicBezTo>
                    <a:lnTo>
                      <a:pt x="2214252" y="392669"/>
                    </a:lnTo>
                    <a:cubicBezTo>
                      <a:pt x="2214252" y="434880"/>
                      <a:pt x="2180033" y="469099"/>
                      <a:pt x="2137822" y="469099"/>
                    </a:cubicBezTo>
                    <a:lnTo>
                      <a:pt x="76430" y="469099"/>
                    </a:lnTo>
                    <a:cubicBezTo>
                      <a:pt x="56159" y="469099"/>
                      <a:pt x="36719" y="461046"/>
                      <a:pt x="22386" y="446713"/>
                    </a:cubicBezTo>
                    <a:cubicBezTo>
                      <a:pt x="8052" y="432380"/>
                      <a:pt x="0" y="412939"/>
                      <a:pt x="0" y="39266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name="TextBox 39" id="39"/>
              <p:cNvSpPr txBox="true"/>
              <p:nvPr/>
            </p:nvSpPr>
            <p:spPr>
              <a:xfrm>
                <a:off x="0" y="-57150"/>
                <a:ext cx="2214252" cy="526249"/>
              </a:xfrm>
              <a:prstGeom prst="rect">
                <a:avLst/>
              </a:prstGeom>
            </p:spPr>
            <p:txBody>
              <a:bodyPr anchor="ctr" rtlCol="false" tIns="52257" lIns="52257" bIns="52257" rIns="52257"/>
              <a:lstStyle/>
              <a:p>
                <a:pPr algn="ctr">
                  <a:lnSpc>
                    <a:spcPts val="2660"/>
                  </a:lnSpc>
                  <a:spcBef>
                    <a:spcPct val="0"/>
                  </a:spcBef>
                </a:pPr>
              </a:p>
            </p:txBody>
          </p:sp>
        </p:grpSp>
        <p:grpSp>
          <p:nvGrpSpPr>
            <p:cNvPr name="Group 40" id="40"/>
            <p:cNvGrpSpPr/>
            <p:nvPr/>
          </p:nvGrpSpPr>
          <p:grpSpPr>
            <a:xfrm rot="0">
              <a:off x="913621" y="596900"/>
              <a:ext cx="1050706" cy="1050706"/>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42" id="42"/>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43" id="43"/>
            <p:cNvSpPr txBox="true"/>
            <p:nvPr/>
          </p:nvSpPr>
          <p:spPr>
            <a:xfrm rot="0">
              <a:off x="2256564" y="877442"/>
              <a:ext cx="8107944" cy="812779"/>
            </a:xfrm>
            <a:prstGeom prst="rect">
              <a:avLst/>
            </a:prstGeom>
          </p:spPr>
          <p:txBody>
            <a:bodyPr anchor="t" rtlCol="false" tIns="0" lIns="0" bIns="0" rIns="0">
              <a:spAutoFit/>
            </a:bodyPr>
            <a:lstStyle/>
            <a:p>
              <a:pPr algn="l">
                <a:lnSpc>
                  <a:spcPts val="2276"/>
                </a:lnSpc>
              </a:pPr>
              <a:r>
                <a:rPr lang="en-US" sz="2276">
                  <a:solidFill>
                    <a:srgbClr val="FFFFFF"/>
                  </a:solidFill>
                  <a:latin typeface="Poppins"/>
                  <a:ea typeface="Poppins"/>
                  <a:cs typeface="Poppins"/>
                  <a:sym typeface="Poppins"/>
                </a:rPr>
                <a:t>Can view purchases in lists designated for each classification</a:t>
              </a:r>
            </a:p>
          </p:txBody>
        </p:sp>
        <p:sp>
          <p:nvSpPr>
            <p:cNvPr name="TextBox 44" id="44"/>
            <p:cNvSpPr txBox="true"/>
            <p:nvPr/>
          </p:nvSpPr>
          <p:spPr>
            <a:xfrm rot="0">
              <a:off x="1164374" y="908050"/>
              <a:ext cx="549201" cy="439047"/>
            </a:xfrm>
            <a:prstGeom prst="rect">
              <a:avLst/>
            </a:prstGeom>
          </p:spPr>
          <p:txBody>
            <a:bodyPr anchor="t" rtlCol="false" tIns="0" lIns="0" bIns="0" rIns="0">
              <a:spAutoFit/>
            </a:bodyPr>
            <a:lstStyle/>
            <a:p>
              <a:pPr algn="ctr">
                <a:lnSpc>
                  <a:spcPts val="2276"/>
                </a:lnSpc>
              </a:pPr>
              <a:r>
                <a:rPr lang="en-US" b="true" sz="2276">
                  <a:solidFill>
                    <a:srgbClr val="FFFFFF"/>
                  </a:solidFill>
                  <a:latin typeface="Poppins Bold"/>
                  <a:ea typeface="Poppins Bold"/>
                  <a:cs typeface="Poppins Bold"/>
                  <a:sym typeface="Poppins Bold"/>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194473" y="5267464"/>
            <a:ext cx="5216468" cy="5216468"/>
          </a:xfrm>
          <a:custGeom>
            <a:avLst/>
            <a:gdLst/>
            <a:ahLst/>
            <a:cxnLst/>
            <a:rect r="r" b="b" t="t" l="l"/>
            <a:pathLst>
              <a:path h="5216468" w="5216468">
                <a:moveTo>
                  <a:pt x="0" y="0"/>
                </a:moveTo>
                <a:lnTo>
                  <a:pt x="5216468" y="0"/>
                </a:lnTo>
                <a:lnTo>
                  <a:pt x="5216468" y="5216468"/>
                </a:lnTo>
                <a:lnTo>
                  <a:pt x="0" y="5216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85548" y="4879992"/>
            <a:ext cx="2214248" cy="2214248"/>
          </a:xfrm>
          <a:custGeom>
            <a:avLst/>
            <a:gdLst/>
            <a:ahLst/>
            <a:cxnLst/>
            <a:rect r="r" b="b" t="t" l="l"/>
            <a:pathLst>
              <a:path h="2214248" w="2214248">
                <a:moveTo>
                  <a:pt x="0" y="0"/>
                </a:moveTo>
                <a:lnTo>
                  <a:pt x="2214248" y="0"/>
                </a:lnTo>
                <a:lnTo>
                  <a:pt x="2214248" y="2214248"/>
                </a:lnTo>
                <a:lnTo>
                  <a:pt x="0" y="2214248"/>
                </a:lnTo>
                <a:lnTo>
                  <a:pt x="0" y="0"/>
                </a:lnTo>
                <a:close/>
              </a:path>
            </a:pathLst>
          </a:custGeom>
          <a:blipFill>
            <a:blip r:embed="rId4">
              <a:alphaModFix amt="98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66833" y="1122104"/>
            <a:ext cx="7877167" cy="1479197"/>
          </a:xfrm>
          <a:prstGeom prst="rect">
            <a:avLst/>
          </a:prstGeom>
        </p:spPr>
        <p:txBody>
          <a:bodyPr anchor="t" rtlCol="false" tIns="0" lIns="0" bIns="0" rIns="0">
            <a:spAutoFit/>
          </a:bodyPr>
          <a:lstStyle/>
          <a:p>
            <a:pPr algn="l">
              <a:lnSpc>
                <a:spcPts val="5114"/>
              </a:lnSpc>
            </a:pPr>
            <a:r>
              <a:rPr lang="en-US" sz="5114">
                <a:solidFill>
                  <a:srgbClr val="FFFFFF"/>
                </a:solidFill>
                <a:latin typeface="Agrandir Grand"/>
                <a:ea typeface="Agrandir Grand"/>
                <a:cs typeface="Agrandir Grand"/>
                <a:sym typeface="Agrandir Grand"/>
              </a:rPr>
              <a:t>PLANNED INPUTS AND OUTPUTS</a:t>
            </a:r>
          </a:p>
        </p:txBody>
      </p:sp>
      <p:grpSp>
        <p:nvGrpSpPr>
          <p:cNvPr name="Group 5" id="5"/>
          <p:cNvGrpSpPr/>
          <p:nvPr/>
        </p:nvGrpSpPr>
        <p:grpSpPr>
          <a:xfrm rot="0">
            <a:off x="634685" y="3475827"/>
            <a:ext cx="788030" cy="788030"/>
            <a:chOff x="0" y="0"/>
            <a:chExt cx="1050706" cy="1050706"/>
          </a:xfrm>
        </p:grpSpPr>
        <p:grpSp>
          <p:nvGrpSpPr>
            <p:cNvPr name="Group 6" id="6"/>
            <p:cNvGrpSpPr/>
            <p:nvPr/>
          </p:nvGrpSpPr>
          <p:grpSpPr>
            <a:xfrm rot="0">
              <a:off x="0" y="0"/>
              <a:ext cx="1050706" cy="105070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9" id="9"/>
            <p:cNvSpPr txBox="true"/>
            <p:nvPr/>
          </p:nvSpPr>
          <p:spPr>
            <a:xfrm rot="0">
              <a:off x="250753" y="315355"/>
              <a:ext cx="549201" cy="439047"/>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01</a:t>
              </a:r>
            </a:p>
          </p:txBody>
        </p:sp>
      </p:grpSp>
      <p:sp>
        <p:nvSpPr>
          <p:cNvPr name="TextBox 10" id="10"/>
          <p:cNvSpPr txBox="true"/>
          <p:nvPr/>
        </p:nvSpPr>
        <p:spPr>
          <a:xfrm rot="0">
            <a:off x="1507118" y="3518498"/>
            <a:ext cx="4865662" cy="5219582"/>
          </a:xfrm>
          <a:prstGeom prst="rect">
            <a:avLst/>
          </a:prstGeom>
        </p:spPr>
        <p:txBody>
          <a:bodyPr anchor="t" rtlCol="false" tIns="0" lIns="0" bIns="0" rIns="0">
            <a:spAutoFit/>
          </a:bodyPr>
          <a:lstStyle/>
          <a:p>
            <a:pPr algn="l">
              <a:lnSpc>
                <a:spcPts val="2620"/>
              </a:lnSpc>
            </a:pPr>
            <a:r>
              <a:rPr lang="en-US" sz="2620">
                <a:solidFill>
                  <a:srgbClr val="FFFFFF"/>
                </a:solidFill>
                <a:latin typeface="Poppins"/>
                <a:ea typeface="Poppins"/>
                <a:cs typeface="Poppins"/>
                <a:sym typeface="Poppins"/>
              </a:rPr>
              <a:t>When you want to put money into your .</a:t>
            </a:r>
          </a:p>
          <a:p>
            <a:pPr algn="l" marL="565730" indent="-282865" lvl="1">
              <a:lnSpc>
                <a:spcPts val="2620"/>
              </a:lnSpc>
              <a:buFont typeface="Arial"/>
              <a:buChar char="•"/>
            </a:pPr>
            <a:r>
              <a:rPr lang="en-US" sz="2620">
                <a:solidFill>
                  <a:srgbClr val="FFFFFF"/>
                </a:solidFill>
                <a:latin typeface="Poppins"/>
                <a:ea typeface="Poppins"/>
                <a:cs typeface="Poppins"/>
                <a:sym typeface="Poppins"/>
              </a:rPr>
              <a:t>User Types: 100</a:t>
            </a:r>
          </a:p>
          <a:p>
            <a:pPr algn="l" marL="565730" indent="-282865" lvl="1">
              <a:lnSpc>
                <a:spcPts val="2620"/>
              </a:lnSpc>
              <a:buFont typeface="Arial"/>
              <a:buChar char="•"/>
            </a:pPr>
            <a:r>
              <a:rPr lang="en-US" sz="2620">
                <a:solidFill>
                  <a:srgbClr val="FFFFFF"/>
                </a:solidFill>
                <a:latin typeface="Poppins"/>
                <a:ea typeface="Poppins"/>
                <a:cs typeface="Poppins"/>
                <a:sym typeface="Poppins"/>
              </a:rPr>
              <a:t>User Clicks: "Deposit"</a:t>
            </a:r>
          </a:p>
          <a:p>
            <a:pPr algn="l" marL="565730" indent="-282865" lvl="1">
              <a:lnSpc>
                <a:spcPts val="2620"/>
              </a:lnSpc>
              <a:buFont typeface="Arial"/>
              <a:buChar char="•"/>
            </a:pPr>
            <a:r>
              <a:rPr lang="en-US" sz="2620">
                <a:solidFill>
                  <a:srgbClr val="FFFFFF"/>
                </a:solidFill>
                <a:latin typeface="Poppins"/>
                <a:ea typeface="Poppins"/>
                <a:cs typeface="Poppins"/>
                <a:sym typeface="Poppins"/>
              </a:rPr>
              <a:t>The Request (Sending): "Hey Flask, please add 100 to the total."</a:t>
            </a:r>
          </a:p>
          <a:p>
            <a:pPr algn="l" marL="565730" indent="-282865" lvl="1">
              <a:lnSpc>
                <a:spcPts val="2620"/>
              </a:lnSpc>
              <a:buFont typeface="Arial"/>
              <a:buChar char="•"/>
            </a:pPr>
            <a:r>
              <a:rPr lang="en-US" sz="2620">
                <a:solidFill>
                  <a:srgbClr val="FFFFFF"/>
                </a:solidFill>
                <a:latin typeface="Poppins"/>
                <a:ea typeface="Poppins"/>
                <a:cs typeface="Poppins"/>
                <a:sym typeface="Poppins"/>
              </a:rPr>
              <a:t>The Response (Receiving): "Got it! The new balance is now 100.00."</a:t>
            </a:r>
          </a:p>
          <a:p>
            <a:pPr algn="l" marL="565730" indent="-282865" lvl="1">
              <a:lnSpc>
                <a:spcPts val="2620"/>
              </a:lnSpc>
              <a:buFont typeface="Arial"/>
              <a:buChar char="•"/>
            </a:pPr>
            <a:r>
              <a:rPr lang="en-US" sz="2620">
                <a:solidFill>
                  <a:srgbClr val="FFFFFF"/>
                </a:solidFill>
                <a:latin typeface="Poppins"/>
                <a:ea typeface="Poppins"/>
                <a:cs typeface="Poppins"/>
                <a:sym typeface="Poppins"/>
              </a:rPr>
              <a:t>What you see: The big green number on the screen changes to $100.00.</a:t>
            </a:r>
          </a:p>
          <a:p>
            <a:pPr algn="l">
              <a:lnSpc>
                <a:spcPts val="2620"/>
              </a:lnSpc>
            </a:pPr>
          </a:p>
        </p:txBody>
      </p:sp>
      <p:grpSp>
        <p:nvGrpSpPr>
          <p:cNvPr name="Group 11" id="11"/>
          <p:cNvGrpSpPr/>
          <p:nvPr/>
        </p:nvGrpSpPr>
        <p:grpSpPr>
          <a:xfrm rot="0">
            <a:off x="6372780" y="3489923"/>
            <a:ext cx="788030" cy="788030"/>
            <a:chOff x="0" y="0"/>
            <a:chExt cx="1050706" cy="1050706"/>
          </a:xfrm>
        </p:grpSpPr>
        <p:grpSp>
          <p:nvGrpSpPr>
            <p:cNvPr name="Group 12" id="12"/>
            <p:cNvGrpSpPr/>
            <p:nvPr/>
          </p:nvGrpSpPr>
          <p:grpSpPr>
            <a:xfrm rot="0">
              <a:off x="0" y="0"/>
              <a:ext cx="1050706" cy="105070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74681">
                      <a:alpha val="100000"/>
                    </a:srgbClr>
                  </a:gs>
                  <a:gs pos="100000">
                    <a:srgbClr val="1F1344">
                      <a:alpha val="100000"/>
                    </a:srgbClr>
                  </a:gs>
                </a:gsLst>
                <a:lin ang="2700000"/>
              </a:gra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60"/>
                  </a:lnSpc>
                </a:pPr>
              </a:p>
            </p:txBody>
          </p:sp>
        </p:grpSp>
        <p:sp>
          <p:nvSpPr>
            <p:cNvPr name="TextBox 15" id="15"/>
            <p:cNvSpPr txBox="true"/>
            <p:nvPr/>
          </p:nvSpPr>
          <p:spPr>
            <a:xfrm rot="0">
              <a:off x="250753" y="315355"/>
              <a:ext cx="549201" cy="439047"/>
            </a:xfrm>
            <a:prstGeom prst="rect">
              <a:avLst/>
            </a:prstGeom>
          </p:spPr>
          <p:txBody>
            <a:bodyPr anchor="t" rtlCol="false" tIns="0" lIns="0" bIns="0" rIns="0">
              <a:spAutoFit/>
            </a:bodyPr>
            <a:lstStyle/>
            <a:p>
              <a:pPr algn="ctr">
                <a:lnSpc>
                  <a:spcPts val="2276"/>
                </a:lnSpc>
              </a:pPr>
              <a:r>
                <a:rPr lang="en-US" sz="2276" b="true">
                  <a:solidFill>
                    <a:srgbClr val="FFFFFF"/>
                  </a:solidFill>
                  <a:latin typeface="Poppins Bold"/>
                  <a:ea typeface="Poppins Bold"/>
                  <a:cs typeface="Poppins Bold"/>
                  <a:sym typeface="Poppins Bold"/>
                </a:rPr>
                <a:t>02</a:t>
              </a:r>
            </a:p>
          </p:txBody>
        </p:sp>
      </p:grpSp>
      <p:sp>
        <p:nvSpPr>
          <p:cNvPr name="Freeform 16" id="16"/>
          <p:cNvSpPr/>
          <p:nvPr/>
        </p:nvSpPr>
        <p:spPr>
          <a:xfrm flipH="false" flipV="false" rot="0">
            <a:off x="1420562" y="643667"/>
            <a:ext cx="665937" cy="385033"/>
          </a:xfrm>
          <a:custGeom>
            <a:avLst/>
            <a:gdLst/>
            <a:ahLst/>
            <a:cxnLst/>
            <a:rect r="r" b="b" t="t" l="l"/>
            <a:pathLst>
              <a:path h="385033" w="665937">
                <a:moveTo>
                  <a:pt x="0" y="0"/>
                </a:moveTo>
                <a:lnTo>
                  <a:pt x="665937" y="0"/>
                </a:lnTo>
                <a:lnTo>
                  <a:pt x="665937" y="385033"/>
                </a:lnTo>
                <a:lnTo>
                  <a:pt x="0" y="3850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7" id="17"/>
          <p:cNvSpPr/>
          <p:nvPr/>
        </p:nvSpPr>
        <p:spPr>
          <a:xfrm>
            <a:off x="2977027" y="831421"/>
            <a:ext cx="7555869" cy="9525"/>
          </a:xfrm>
          <a:prstGeom prst="line">
            <a:avLst/>
          </a:prstGeom>
          <a:ln cap="flat" w="19050">
            <a:solidFill>
              <a:srgbClr val="4C4C4C"/>
            </a:solidFill>
            <a:prstDash val="solid"/>
            <a:headEnd type="none" len="sm" w="sm"/>
            <a:tailEnd type="none" len="sm" w="sm"/>
          </a:ln>
        </p:spPr>
      </p:sp>
      <p:sp>
        <p:nvSpPr>
          <p:cNvPr name="TextBox 18" id="18"/>
          <p:cNvSpPr txBox="true"/>
          <p:nvPr/>
        </p:nvSpPr>
        <p:spPr>
          <a:xfrm rot="0">
            <a:off x="1039448" y="2506052"/>
            <a:ext cx="2151340" cy="591385"/>
          </a:xfrm>
          <a:prstGeom prst="rect">
            <a:avLst/>
          </a:prstGeom>
        </p:spPr>
        <p:txBody>
          <a:bodyPr anchor="t" rtlCol="false" tIns="0" lIns="0" bIns="0" rIns="0">
            <a:spAutoFit/>
          </a:bodyPr>
          <a:lstStyle/>
          <a:p>
            <a:pPr algn="ctr">
              <a:lnSpc>
                <a:spcPts val="4628"/>
              </a:lnSpc>
              <a:spcBef>
                <a:spcPct val="0"/>
              </a:spcBef>
            </a:pPr>
            <a:r>
              <a:rPr lang="en-US" sz="3306">
                <a:solidFill>
                  <a:srgbClr val="FFFFFF"/>
                </a:solidFill>
                <a:latin typeface="Poppins"/>
                <a:ea typeface="Poppins"/>
                <a:cs typeface="Poppins"/>
                <a:sym typeface="Poppins"/>
              </a:rPr>
              <a:t>Scenarios:</a:t>
            </a:r>
          </a:p>
        </p:txBody>
      </p:sp>
      <p:sp>
        <p:nvSpPr>
          <p:cNvPr name="TextBox 19" id="19"/>
          <p:cNvSpPr txBox="true"/>
          <p:nvPr/>
        </p:nvSpPr>
        <p:spPr>
          <a:xfrm rot="0">
            <a:off x="7781538" y="3413723"/>
            <a:ext cx="5853039" cy="6023573"/>
          </a:xfrm>
          <a:prstGeom prst="rect">
            <a:avLst/>
          </a:prstGeom>
        </p:spPr>
        <p:txBody>
          <a:bodyPr anchor="t" rtlCol="false" tIns="0" lIns="0" bIns="0" rIns="0">
            <a:spAutoFit/>
          </a:bodyPr>
          <a:lstStyle/>
          <a:p>
            <a:pPr algn="ctr">
              <a:lnSpc>
                <a:spcPts val="3425"/>
              </a:lnSpc>
              <a:spcBef>
                <a:spcPct val="0"/>
              </a:spcBef>
            </a:pPr>
            <a:r>
              <a:rPr lang="en-US" sz="2446">
                <a:solidFill>
                  <a:srgbClr val="FFFFFF"/>
                </a:solidFill>
                <a:latin typeface="Poppins"/>
                <a:ea typeface="Poppins"/>
                <a:cs typeface="Poppins"/>
                <a:sym typeface="Poppins"/>
              </a:rPr>
              <a:t>When y</a:t>
            </a:r>
            <a:r>
              <a:rPr lang="en-US" sz="2446">
                <a:solidFill>
                  <a:srgbClr val="FFFFFF"/>
                </a:solidFill>
                <a:latin typeface="Poppins"/>
                <a:ea typeface="Poppins"/>
                <a:cs typeface="Poppins"/>
                <a:sym typeface="Poppins"/>
              </a:rPr>
              <a:t>ou want to see your list of items.</a:t>
            </a:r>
          </a:p>
          <a:p>
            <a:pPr algn="ctr" marL="528184" indent="-264092" lvl="1">
              <a:lnSpc>
                <a:spcPts val="3425"/>
              </a:lnSpc>
              <a:spcBef>
                <a:spcPct val="0"/>
              </a:spcBef>
              <a:buFont typeface="Arial"/>
              <a:buChar char="•"/>
            </a:pPr>
            <a:r>
              <a:rPr lang="en-US" sz="2446">
                <a:solidFill>
                  <a:srgbClr val="FFFFFF"/>
                </a:solidFill>
                <a:latin typeface="Poppins"/>
                <a:ea typeface="Poppins"/>
                <a:cs typeface="Poppins"/>
                <a:sym typeface="Poppins"/>
              </a:rPr>
              <a:t>User Selects: "Food" from the list</a:t>
            </a:r>
          </a:p>
          <a:p>
            <a:pPr algn="ctr" marL="528184" indent="-264092" lvl="1">
              <a:lnSpc>
                <a:spcPts val="3425"/>
              </a:lnSpc>
              <a:spcBef>
                <a:spcPct val="0"/>
              </a:spcBef>
              <a:buFont typeface="Arial"/>
              <a:buChar char="•"/>
            </a:pPr>
            <a:r>
              <a:rPr lang="en-US" sz="2446">
                <a:solidFill>
                  <a:srgbClr val="FFFFFF"/>
                </a:solidFill>
                <a:latin typeface="Poppins"/>
                <a:ea typeface="Poppins"/>
                <a:cs typeface="Poppins"/>
                <a:sym typeface="Poppins"/>
              </a:rPr>
              <a:t>The Request (Sending): "Flask, show me everything inside the 'Food' box."</a:t>
            </a:r>
          </a:p>
          <a:p>
            <a:pPr algn="ctr" marL="528184" indent="-264092" lvl="1">
              <a:lnSpc>
                <a:spcPts val="3425"/>
              </a:lnSpc>
              <a:spcBef>
                <a:spcPct val="0"/>
              </a:spcBef>
              <a:buFont typeface="Arial"/>
              <a:buChar char="•"/>
            </a:pPr>
            <a:r>
              <a:rPr lang="en-US" sz="2446">
                <a:solidFill>
                  <a:srgbClr val="FFFFFF"/>
                </a:solidFill>
                <a:latin typeface="Poppins"/>
                <a:ea typeface="Poppins"/>
                <a:cs typeface="Poppins"/>
                <a:sym typeface="Poppins"/>
              </a:rPr>
              <a:t>The Response (Receiving): ["Pizza", "Burger", "Fries"]</a:t>
            </a:r>
          </a:p>
          <a:p>
            <a:pPr algn="ctr" marL="528184" indent="-264092" lvl="1">
              <a:lnSpc>
                <a:spcPts val="3425"/>
              </a:lnSpc>
              <a:spcBef>
                <a:spcPct val="0"/>
              </a:spcBef>
              <a:buFont typeface="Arial"/>
              <a:buChar char="•"/>
            </a:pPr>
            <a:r>
              <a:rPr lang="en-US" sz="2446">
                <a:solidFill>
                  <a:srgbClr val="FFFFFF"/>
                </a:solidFill>
                <a:latin typeface="Poppins"/>
                <a:ea typeface="Poppins"/>
                <a:cs typeface="Poppins"/>
                <a:sym typeface="Poppins"/>
              </a:rPr>
              <a:t>What you see: A list appears on your screen:</a:t>
            </a:r>
          </a:p>
          <a:p>
            <a:pPr algn="ctr" marL="1056369" indent="-352123" lvl="2">
              <a:lnSpc>
                <a:spcPts val="3425"/>
              </a:lnSpc>
              <a:spcBef>
                <a:spcPct val="0"/>
              </a:spcBef>
              <a:buFont typeface="Arial"/>
              <a:buChar char="⚬"/>
            </a:pPr>
            <a:r>
              <a:rPr lang="en-US" sz="2446">
                <a:solidFill>
                  <a:srgbClr val="FFFFFF"/>
                </a:solidFill>
                <a:latin typeface="Poppins"/>
                <a:ea typeface="Poppins"/>
                <a:cs typeface="Poppins"/>
                <a:sym typeface="Poppins"/>
              </a:rPr>
              <a:t>Pizza</a:t>
            </a:r>
          </a:p>
          <a:p>
            <a:pPr algn="ctr" marL="1056369" indent="-352123" lvl="2">
              <a:lnSpc>
                <a:spcPts val="3425"/>
              </a:lnSpc>
              <a:spcBef>
                <a:spcPct val="0"/>
              </a:spcBef>
              <a:buFont typeface="Arial"/>
              <a:buChar char="⚬"/>
            </a:pPr>
            <a:r>
              <a:rPr lang="en-US" sz="2446">
                <a:solidFill>
                  <a:srgbClr val="FFFFFF"/>
                </a:solidFill>
                <a:latin typeface="Poppins"/>
                <a:ea typeface="Poppins"/>
                <a:cs typeface="Poppins"/>
                <a:sym typeface="Poppins"/>
              </a:rPr>
              <a:t>Burger</a:t>
            </a:r>
          </a:p>
          <a:p>
            <a:pPr algn="ctr" marL="1056369" indent="-352123" lvl="2">
              <a:lnSpc>
                <a:spcPts val="3425"/>
              </a:lnSpc>
              <a:spcBef>
                <a:spcPct val="0"/>
              </a:spcBef>
              <a:buFont typeface="Arial"/>
              <a:buChar char="⚬"/>
            </a:pPr>
            <a:r>
              <a:rPr lang="en-US" sz="2446">
                <a:solidFill>
                  <a:srgbClr val="FFFFFF"/>
                </a:solidFill>
                <a:latin typeface="Poppins"/>
                <a:ea typeface="Poppins"/>
                <a:cs typeface="Poppins"/>
                <a:sym typeface="Poppins"/>
              </a:rPr>
              <a:t>Fries</a:t>
            </a:r>
          </a:p>
          <a:p>
            <a:pPr algn="ctr">
              <a:lnSpc>
                <a:spcPts val="3425"/>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74744" y="4603422"/>
            <a:ext cx="2445367" cy="2445367"/>
          </a:xfrm>
          <a:custGeom>
            <a:avLst/>
            <a:gdLst/>
            <a:ahLst/>
            <a:cxnLst/>
            <a:rect r="r" b="b" t="t" l="l"/>
            <a:pathLst>
              <a:path h="2445367" w="2445367">
                <a:moveTo>
                  <a:pt x="0" y="0"/>
                </a:moveTo>
                <a:lnTo>
                  <a:pt x="2445367" y="0"/>
                </a:lnTo>
                <a:lnTo>
                  <a:pt x="2445367" y="2445367"/>
                </a:lnTo>
                <a:lnTo>
                  <a:pt x="0" y="2445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3048" y="1412096"/>
            <a:ext cx="665937" cy="385033"/>
          </a:xfrm>
          <a:custGeom>
            <a:avLst/>
            <a:gdLst/>
            <a:ahLst/>
            <a:cxnLst/>
            <a:rect r="r" b="b" t="t" l="l"/>
            <a:pathLst>
              <a:path h="385033" w="665937">
                <a:moveTo>
                  <a:pt x="0" y="0"/>
                </a:moveTo>
                <a:lnTo>
                  <a:pt x="665937" y="0"/>
                </a:lnTo>
                <a:lnTo>
                  <a:pt x="665937" y="385032"/>
                </a:lnTo>
                <a:lnTo>
                  <a:pt x="0" y="3850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2965365" y="1599850"/>
            <a:ext cx="7555869" cy="9525"/>
          </a:xfrm>
          <a:prstGeom prst="line">
            <a:avLst/>
          </a:prstGeom>
          <a:ln cap="flat" w="19050">
            <a:solidFill>
              <a:srgbClr val="4C4C4C"/>
            </a:solidFill>
            <a:prstDash val="solid"/>
            <a:headEnd type="none" len="sm" w="sm"/>
            <a:tailEnd type="none" len="sm" w="sm"/>
          </a:ln>
        </p:spPr>
      </p:sp>
      <p:sp>
        <p:nvSpPr>
          <p:cNvPr name="TextBox 5" id="5"/>
          <p:cNvSpPr txBox="true"/>
          <p:nvPr/>
        </p:nvSpPr>
        <p:spPr>
          <a:xfrm rot="0">
            <a:off x="1292776" y="1901465"/>
            <a:ext cx="15241903" cy="976047"/>
          </a:xfrm>
          <a:prstGeom prst="rect">
            <a:avLst/>
          </a:prstGeom>
        </p:spPr>
        <p:txBody>
          <a:bodyPr anchor="t" rtlCol="false" tIns="0" lIns="0" bIns="0" rIns="0">
            <a:spAutoFit/>
          </a:bodyPr>
          <a:lstStyle/>
          <a:p>
            <a:pPr algn="l">
              <a:lnSpc>
                <a:spcPts val="6056"/>
              </a:lnSpc>
            </a:pPr>
            <a:r>
              <a:rPr lang="en-US" sz="6056">
                <a:solidFill>
                  <a:srgbClr val="FFFFFF"/>
                </a:solidFill>
                <a:latin typeface="Agrandir Grand"/>
                <a:ea typeface="Agrandir Grand"/>
                <a:cs typeface="Agrandir Grand"/>
                <a:sym typeface="Agrandir Grand"/>
              </a:rPr>
              <a:t>PROCESS FLOW:</a:t>
            </a:r>
          </a:p>
        </p:txBody>
      </p:sp>
      <p:grpSp>
        <p:nvGrpSpPr>
          <p:cNvPr name="Group 6" id="6"/>
          <p:cNvGrpSpPr/>
          <p:nvPr/>
        </p:nvGrpSpPr>
        <p:grpSpPr>
          <a:xfrm rot="0">
            <a:off x="879543" y="3477572"/>
            <a:ext cx="643505" cy="604670"/>
            <a:chOff x="0" y="0"/>
            <a:chExt cx="858007" cy="806227"/>
          </a:xfrm>
        </p:grpSpPr>
        <p:grpSp>
          <p:nvGrpSpPr>
            <p:cNvPr name="Group 7" id="7"/>
            <p:cNvGrpSpPr/>
            <p:nvPr/>
          </p:nvGrpSpPr>
          <p:grpSpPr>
            <a:xfrm rot="0">
              <a:off x="0" y="0"/>
              <a:ext cx="858007" cy="806227"/>
              <a:chOff x="0" y="0"/>
              <a:chExt cx="865002" cy="812800"/>
            </a:xfrm>
          </p:grpSpPr>
          <p:sp>
            <p:nvSpPr>
              <p:cNvPr name="Freeform 8" id="8"/>
              <p:cNvSpPr/>
              <p:nvPr/>
            </p:nvSpPr>
            <p:spPr>
              <a:xfrm flipH="false" flipV="false" rot="0">
                <a:off x="0" y="0"/>
                <a:ext cx="865002" cy="812800"/>
              </a:xfrm>
              <a:custGeom>
                <a:avLst/>
                <a:gdLst/>
                <a:ahLst/>
                <a:cxnLst/>
                <a:rect r="r" b="b" t="t" l="l"/>
                <a:pathLst>
                  <a:path h="812800" w="865002">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true">
                <a:gsLst>
                  <a:gs pos="0">
                    <a:srgbClr val="974681">
                      <a:alpha val="100000"/>
                    </a:srgbClr>
                  </a:gs>
                  <a:gs pos="100000">
                    <a:srgbClr val="1F1344">
                      <a:alpha val="100000"/>
                    </a:srgbClr>
                  </a:gs>
                </a:gsLst>
                <a:lin ang="2700000"/>
              </a:gradFill>
            </p:spPr>
          </p:sp>
          <p:sp>
            <p:nvSpPr>
              <p:cNvPr name="TextBox 9" id="9"/>
              <p:cNvSpPr txBox="true"/>
              <p:nvPr/>
            </p:nvSpPr>
            <p:spPr>
              <a:xfrm>
                <a:off x="81094" y="19050"/>
                <a:ext cx="702814" cy="717550"/>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204765" y="246410"/>
              <a:ext cx="448478" cy="332457"/>
            </a:xfrm>
            <a:prstGeom prst="rect">
              <a:avLst/>
            </a:prstGeom>
          </p:spPr>
          <p:txBody>
            <a:bodyPr anchor="t" rtlCol="false" tIns="0" lIns="0" bIns="0" rIns="0">
              <a:spAutoFit/>
            </a:bodyPr>
            <a:lstStyle/>
            <a:p>
              <a:pPr algn="ctr">
                <a:lnSpc>
                  <a:spcPts val="1746"/>
                </a:lnSpc>
              </a:pPr>
              <a:r>
                <a:rPr lang="en-US" sz="1746" b="true">
                  <a:solidFill>
                    <a:srgbClr val="FFFFFF"/>
                  </a:solidFill>
                  <a:latin typeface="Poppins Bold"/>
                  <a:ea typeface="Poppins Bold"/>
                  <a:cs typeface="Poppins Bold"/>
                  <a:sym typeface="Poppins Bold"/>
                </a:rPr>
                <a:t>01</a:t>
              </a:r>
            </a:p>
          </p:txBody>
        </p:sp>
      </p:grpSp>
      <p:grpSp>
        <p:nvGrpSpPr>
          <p:cNvPr name="Group 11" id="11"/>
          <p:cNvGrpSpPr/>
          <p:nvPr/>
        </p:nvGrpSpPr>
        <p:grpSpPr>
          <a:xfrm rot="0">
            <a:off x="9144000" y="5695935"/>
            <a:ext cx="643505" cy="604670"/>
            <a:chOff x="0" y="0"/>
            <a:chExt cx="858007" cy="806227"/>
          </a:xfrm>
        </p:grpSpPr>
        <p:grpSp>
          <p:nvGrpSpPr>
            <p:cNvPr name="Group 12" id="12"/>
            <p:cNvGrpSpPr/>
            <p:nvPr/>
          </p:nvGrpSpPr>
          <p:grpSpPr>
            <a:xfrm rot="0">
              <a:off x="0" y="0"/>
              <a:ext cx="858007" cy="806227"/>
              <a:chOff x="0" y="0"/>
              <a:chExt cx="865002" cy="812800"/>
            </a:xfrm>
          </p:grpSpPr>
          <p:sp>
            <p:nvSpPr>
              <p:cNvPr name="Freeform 13" id="13"/>
              <p:cNvSpPr/>
              <p:nvPr/>
            </p:nvSpPr>
            <p:spPr>
              <a:xfrm flipH="false" flipV="false" rot="0">
                <a:off x="0" y="0"/>
                <a:ext cx="865002" cy="812800"/>
              </a:xfrm>
              <a:custGeom>
                <a:avLst/>
                <a:gdLst/>
                <a:ahLst/>
                <a:cxnLst/>
                <a:rect r="r" b="b" t="t" l="l"/>
                <a:pathLst>
                  <a:path h="812800" w="865002">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true">
                <a:gsLst>
                  <a:gs pos="0">
                    <a:srgbClr val="974681">
                      <a:alpha val="100000"/>
                    </a:srgbClr>
                  </a:gs>
                  <a:gs pos="100000">
                    <a:srgbClr val="1F1344">
                      <a:alpha val="100000"/>
                    </a:srgbClr>
                  </a:gs>
                </a:gsLst>
                <a:lin ang="2700000"/>
              </a:gradFill>
            </p:spPr>
          </p:sp>
          <p:sp>
            <p:nvSpPr>
              <p:cNvPr name="TextBox 14" id="14"/>
              <p:cNvSpPr txBox="true"/>
              <p:nvPr/>
            </p:nvSpPr>
            <p:spPr>
              <a:xfrm>
                <a:off x="81094" y="19050"/>
                <a:ext cx="702814" cy="717550"/>
              </a:xfrm>
              <a:prstGeom prst="rect">
                <a:avLst/>
              </a:prstGeom>
            </p:spPr>
            <p:txBody>
              <a:bodyPr anchor="ctr" rtlCol="false" tIns="50800" lIns="50800" bIns="50800" rIns="50800"/>
              <a:lstStyle/>
              <a:p>
                <a:pPr algn="ctr">
                  <a:lnSpc>
                    <a:spcPts val="2660"/>
                  </a:lnSpc>
                </a:pPr>
              </a:p>
            </p:txBody>
          </p:sp>
        </p:grpSp>
        <p:sp>
          <p:nvSpPr>
            <p:cNvPr name="TextBox 15" id="15"/>
            <p:cNvSpPr txBox="true"/>
            <p:nvPr/>
          </p:nvSpPr>
          <p:spPr>
            <a:xfrm rot="0">
              <a:off x="204765" y="246410"/>
              <a:ext cx="448478" cy="332457"/>
            </a:xfrm>
            <a:prstGeom prst="rect">
              <a:avLst/>
            </a:prstGeom>
          </p:spPr>
          <p:txBody>
            <a:bodyPr anchor="t" rtlCol="false" tIns="0" lIns="0" bIns="0" rIns="0">
              <a:spAutoFit/>
            </a:bodyPr>
            <a:lstStyle/>
            <a:p>
              <a:pPr algn="ctr">
                <a:lnSpc>
                  <a:spcPts val="1746"/>
                </a:lnSpc>
              </a:pPr>
              <a:r>
                <a:rPr lang="en-US" sz="1746" b="true">
                  <a:solidFill>
                    <a:srgbClr val="FFFFFF"/>
                  </a:solidFill>
                  <a:latin typeface="Poppins Bold"/>
                  <a:ea typeface="Poppins Bold"/>
                  <a:cs typeface="Poppins Bold"/>
                  <a:sym typeface="Poppins Bold"/>
                </a:rPr>
                <a:t>02</a:t>
              </a:r>
            </a:p>
          </p:txBody>
        </p:sp>
      </p:grpSp>
      <p:sp>
        <p:nvSpPr>
          <p:cNvPr name="Freeform 16" id="16"/>
          <p:cNvSpPr/>
          <p:nvPr/>
        </p:nvSpPr>
        <p:spPr>
          <a:xfrm flipH="false" flipV="false" rot="0">
            <a:off x="11986855" y="5826105"/>
            <a:ext cx="6661538" cy="6661538"/>
          </a:xfrm>
          <a:custGeom>
            <a:avLst/>
            <a:gdLst/>
            <a:ahLst/>
            <a:cxnLst/>
            <a:rect r="r" b="b" t="t" l="l"/>
            <a:pathLst>
              <a:path h="6661538" w="6661538">
                <a:moveTo>
                  <a:pt x="0" y="0"/>
                </a:moveTo>
                <a:lnTo>
                  <a:pt x="6661538" y="0"/>
                </a:lnTo>
                <a:lnTo>
                  <a:pt x="6661538" y="6661539"/>
                </a:lnTo>
                <a:lnTo>
                  <a:pt x="0" y="6661539"/>
                </a:lnTo>
                <a:lnTo>
                  <a:pt x="0" y="0"/>
                </a:lnTo>
                <a:close/>
              </a:path>
            </a:pathLst>
          </a:custGeom>
          <a:blipFill>
            <a:blip r:embed="rId6">
              <a:alphaModFix amt="98000"/>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207469" y="4773753"/>
            <a:ext cx="1110155" cy="1110155"/>
          </a:xfrm>
          <a:custGeom>
            <a:avLst/>
            <a:gdLst/>
            <a:ahLst/>
            <a:cxnLst/>
            <a:rect r="r" b="b" t="t" l="l"/>
            <a:pathLst>
              <a:path h="1110155" w="1110155">
                <a:moveTo>
                  <a:pt x="0" y="0"/>
                </a:moveTo>
                <a:lnTo>
                  <a:pt x="1110155" y="0"/>
                </a:lnTo>
                <a:lnTo>
                  <a:pt x="1110155" y="1110155"/>
                </a:lnTo>
                <a:lnTo>
                  <a:pt x="0" y="1110155"/>
                </a:lnTo>
                <a:lnTo>
                  <a:pt x="0" y="0"/>
                </a:lnTo>
                <a:close/>
              </a:path>
            </a:pathLst>
          </a:custGeom>
          <a:blipFill>
            <a:blip r:embed="rId6">
              <a:alphaModFix amt="98000"/>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0" y="3732283"/>
            <a:ext cx="8913727" cy="2265987"/>
          </a:xfrm>
          <a:prstGeom prst="rect">
            <a:avLst/>
          </a:prstGeom>
        </p:spPr>
        <p:txBody>
          <a:bodyPr anchor="t" rtlCol="false" tIns="0" lIns="0" bIns="0" rIns="0">
            <a:spAutoFit/>
          </a:bodyPr>
          <a:lstStyle/>
          <a:p>
            <a:pPr algn="ctr">
              <a:lnSpc>
                <a:spcPts val="2582"/>
              </a:lnSpc>
            </a:pPr>
            <a:r>
              <a:rPr lang="en-US" sz="1844">
                <a:solidFill>
                  <a:srgbClr val="FFFFFF"/>
                </a:solidFill>
                <a:latin typeface="Poppins"/>
                <a:ea typeface="Poppins"/>
                <a:cs typeface="Poppins"/>
                <a:sym typeface="Poppins"/>
              </a:rPr>
              <a:t>Process Flow: Adding Money</a:t>
            </a:r>
          </a:p>
          <a:p>
            <a:pPr algn="ctr" marL="398184" indent="-199092" lvl="1">
              <a:lnSpc>
                <a:spcPts val="2582"/>
              </a:lnSpc>
              <a:spcBef>
                <a:spcPct val="0"/>
              </a:spcBef>
              <a:buAutoNum type="arabicPeriod" startAt="1"/>
            </a:pPr>
            <a:r>
              <a:rPr lang="en-US" sz="1844">
                <a:solidFill>
                  <a:srgbClr val="FFFFFF"/>
                </a:solidFill>
                <a:latin typeface="Poppins"/>
                <a:ea typeface="Poppins"/>
                <a:cs typeface="Poppins"/>
                <a:sym typeface="Poppins"/>
              </a:rPr>
              <a:t>User Acti</a:t>
            </a:r>
            <a:r>
              <a:rPr lang="en-US" sz="1844">
                <a:solidFill>
                  <a:srgbClr val="FFFFFF"/>
                </a:solidFill>
                <a:latin typeface="Poppins"/>
                <a:ea typeface="Poppins"/>
                <a:cs typeface="Poppins"/>
                <a:sym typeface="Poppins"/>
              </a:rPr>
              <a:t>on: Types a number into the "Amount" box and clicks Deposit.</a:t>
            </a:r>
          </a:p>
          <a:p>
            <a:pPr algn="ctr" marL="398184" indent="-199092" lvl="1">
              <a:lnSpc>
                <a:spcPts val="2582"/>
              </a:lnSpc>
              <a:spcBef>
                <a:spcPct val="0"/>
              </a:spcBef>
              <a:buAutoNum type="arabicPeriod" startAt="1"/>
            </a:pPr>
            <a:r>
              <a:rPr lang="en-US" sz="1844">
                <a:solidFill>
                  <a:srgbClr val="FFFFFF"/>
                </a:solidFill>
                <a:latin typeface="Poppins"/>
                <a:ea typeface="Poppins"/>
                <a:cs typeface="Poppins"/>
                <a:sym typeface="Poppins"/>
              </a:rPr>
              <a:t>Request: The Frontend sends the number to the Backend (Python).</a:t>
            </a:r>
          </a:p>
          <a:p>
            <a:pPr algn="ctr" marL="398184" indent="-199092" lvl="1">
              <a:lnSpc>
                <a:spcPts val="2582"/>
              </a:lnSpc>
              <a:spcBef>
                <a:spcPct val="0"/>
              </a:spcBef>
              <a:buAutoNum type="arabicPeriod" startAt="1"/>
            </a:pPr>
            <a:r>
              <a:rPr lang="en-US" sz="1844">
                <a:solidFill>
                  <a:srgbClr val="FFFFFF"/>
                </a:solidFill>
                <a:latin typeface="Poppins"/>
                <a:ea typeface="Poppins"/>
                <a:cs typeface="Poppins"/>
                <a:sym typeface="Poppins"/>
              </a:rPr>
              <a:t>Processing: Flask adds that number to the Total_cash variable.</a:t>
            </a:r>
          </a:p>
          <a:p>
            <a:pPr algn="ctr" marL="398184" indent="-199092" lvl="1">
              <a:lnSpc>
                <a:spcPts val="2582"/>
              </a:lnSpc>
              <a:spcBef>
                <a:spcPct val="0"/>
              </a:spcBef>
              <a:buAutoNum type="arabicPeriod" startAt="1"/>
            </a:pPr>
            <a:r>
              <a:rPr lang="en-US" sz="1844">
                <a:solidFill>
                  <a:srgbClr val="FFFFFF"/>
                </a:solidFill>
                <a:latin typeface="Poppins"/>
                <a:ea typeface="Poppins"/>
                <a:cs typeface="Poppins"/>
                <a:sym typeface="Poppins"/>
              </a:rPr>
              <a:t>Response: The Backend sends back the new total balance.</a:t>
            </a:r>
          </a:p>
          <a:p>
            <a:pPr algn="ctr" marL="398184" indent="-199092" lvl="1">
              <a:lnSpc>
                <a:spcPts val="2582"/>
              </a:lnSpc>
              <a:spcBef>
                <a:spcPct val="0"/>
              </a:spcBef>
              <a:buAutoNum type="arabicPeriod" startAt="1"/>
            </a:pPr>
            <a:r>
              <a:rPr lang="en-US" sz="1844">
                <a:solidFill>
                  <a:srgbClr val="FFFFFF"/>
                </a:solidFill>
                <a:latin typeface="Poppins"/>
                <a:ea typeface="Poppins"/>
                <a:cs typeface="Poppins"/>
                <a:sym typeface="Poppins"/>
              </a:rPr>
              <a:t>Update: The Frontend displays the new balance on the screen.</a:t>
            </a:r>
          </a:p>
          <a:p>
            <a:pPr algn="ctr">
              <a:lnSpc>
                <a:spcPts val="2582"/>
              </a:lnSpc>
              <a:spcBef>
                <a:spcPct val="0"/>
              </a:spcBef>
            </a:pPr>
          </a:p>
        </p:txBody>
      </p:sp>
      <p:sp>
        <p:nvSpPr>
          <p:cNvPr name="TextBox 19" id="19"/>
          <p:cNvSpPr txBox="true"/>
          <p:nvPr/>
        </p:nvSpPr>
        <p:spPr>
          <a:xfrm rot="0">
            <a:off x="8036108" y="6122095"/>
            <a:ext cx="9843382" cy="2342515"/>
          </a:xfrm>
          <a:prstGeom prst="rect">
            <a:avLst/>
          </a:prstGeom>
        </p:spPr>
        <p:txBody>
          <a:bodyPr anchor="t" rtlCol="false" tIns="0" lIns="0" bIns="0" rIns="0">
            <a:spAutoFit/>
          </a:bodyPr>
          <a:lstStyle/>
          <a:p>
            <a:pPr algn="ctr">
              <a:lnSpc>
                <a:spcPts val="2660"/>
              </a:lnSpc>
              <a:spcBef>
                <a:spcPct val="0"/>
              </a:spcBef>
            </a:pPr>
            <a:r>
              <a:rPr lang="en-US" sz="1900">
                <a:solidFill>
                  <a:srgbClr val="FFFFFF"/>
                </a:solidFill>
                <a:latin typeface="Poppins"/>
                <a:ea typeface="Poppins"/>
                <a:cs typeface="Poppins"/>
                <a:sym typeface="Poppins"/>
              </a:rPr>
              <a:t>Process Flow: L</a:t>
            </a:r>
            <a:r>
              <a:rPr lang="en-US" sz="1900">
                <a:solidFill>
                  <a:srgbClr val="FFFFFF"/>
                </a:solidFill>
                <a:latin typeface="Poppins"/>
                <a:ea typeface="Poppins"/>
                <a:cs typeface="Poppins"/>
                <a:sym typeface="Poppins"/>
              </a:rPr>
              <a:t>ogging a Purchase</a:t>
            </a:r>
          </a:p>
          <a:p>
            <a:pPr algn="ctr" marL="410211" indent="-205106" lvl="1">
              <a:lnSpc>
                <a:spcPts val="2660"/>
              </a:lnSpc>
              <a:spcBef>
                <a:spcPct val="0"/>
              </a:spcBef>
              <a:buFont typeface="Arial"/>
              <a:buChar char="•"/>
            </a:pPr>
            <a:r>
              <a:rPr lang="en-US" sz="1900">
                <a:solidFill>
                  <a:srgbClr val="FFFFFF"/>
                </a:solidFill>
                <a:latin typeface="Poppins"/>
                <a:ea typeface="Poppins"/>
                <a:cs typeface="Poppins"/>
                <a:sym typeface="Poppins"/>
              </a:rPr>
              <a:t>User Action: Types a name (e.g., "Pizza") and selects a Category.</a:t>
            </a:r>
          </a:p>
          <a:p>
            <a:pPr algn="ctr" marL="410211" indent="-205106" lvl="1">
              <a:lnSpc>
                <a:spcPts val="2660"/>
              </a:lnSpc>
              <a:spcBef>
                <a:spcPct val="0"/>
              </a:spcBef>
              <a:buFont typeface="Arial"/>
              <a:buChar char="•"/>
            </a:pPr>
            <a:r>
              <a:rPr lang="en-US" sz="1900">
                <a:solidFill>
                  <a:srgbClr val="FFFFFF"/>
                </a:solidFill>
                <a:latin typeface="Poppins"/>
                <a:ea typeface="Poppins"/>
                <a:cs typeface="Poppins"/>
                <a:sym typeface="Poppins"/>
              </a:rPr>
              <a:t>Request: The Frontend sends the name and category to the Backend.</a:t>
            </a:r>
          </a:p>
          <a:p>
            <a:pPr algn="ctr" marL="410211" indent="-205106" lvl="1">
              <a:lnSpc>
                <a:spcPts val="2660"/>
              </a:lnSpc>
              <a:spcBef>
                <a:spcPct val="0"/>
              </a:spcBef>
              <a:buFont typeface="Arial"/>
              <a:buChar char="•"/>
            </a:pPr>
            <a:r>
              <a:rPr lang="en-US" sz="1900">
                <a:solidFill>
                  <a:srgbClr val="FFFFFF"/>
                </a:solidFill>
                <a:latin typeface="Poppins"/>
                <a:ea typeface="Poppins"/>
                <a:cs typeface="Poppins"/>
                <a:sym typeface="Poppins"/>
              </a:rPr>
              <a:t>Processing: Flask saves the name into the specific category list.</a:t>
            </a:r>
          </a:p>
          <a:p>
            <a:pPr algn="ctr" marL="410211" indent="-205106" lvl="1">
              <a:lnSpc>
                <a:spcPts val="2660"/>
              </a:lnSpc>
              <a:spcBef>
                <a:spcPct val="0"/>
              </a:spcBef>
              <a:buFont typeface="Arial"/>
              <a:buChar char="•"/>
            </a:pPr>
            <a:r>
              <a:rPr lang="en-US" sz="1900">
                <a:solidFill>
                  <a:srgbClr val="FFFFFF"/>
                </a:solidFill>
                <a:latin typeface="Poppins"/>
                <a:ea typeface="Poppins"/>
                <a:cs typeface="Poppins"/>
                <a:sym typeface="Poppins"/>
              </a:rPr>
              <a:t>Retrieve: The Frontend immediately asks for the updated list for that category.</a:t>
            </a:r>
          </a:p>
          <a:p>
            <a:pPr algn="ctr" marL="410211" indent="-205106" lvl="1">
              <a:lnSpc>
                <a:spcPts val="2660"/>
              </a:lnSpc>
              <a:spcBef>
                <a:spcPct val="0"/>
              </a:spcBef>
              <a:buFont typeface="Arial"/>
              <a:buChar char="•"/>
            </a:pPr>
            <a:r>
              <a:rPr lang="en-US" sz="1900">
                <a:solidFill>
                  <a:srgbClr val="FFFFFF"/>
                </a:solidFill>
                <a:latin typeface="Poppins"/>
                <a:ea typeface="Poppins"/>
                <a:cs typeface="Poppins"/>
                <a:sym typeface="Poppins"/>
              </a:rPr>
              <a:t>Update: The Frontend clears the old list and displays the new names.</a:t>
            </a:r>
          </a:p>
          <a:p>
            <a:pPr algn="ctr">
              <a:lnSpc>
                <a:spcPts val="266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81818">
                <a:alpha val="100000"/>
              </a:srgbClr>
            </a:gs>
            <a:gs pos="50000">
              <a:srgbClr val="1B103B">
                <a:alpha val="100000"/>
              </a:srgbClr>
            </a:gs>
            <a:gs pos="100000">
              <a:srgbClr val="180424">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841772" y="3335121"/>
            <a:ext cx="5923179" cy="5923179"/>
          </a:xfrm>
          <a:custGeom>
            <a:avLst/>
            <a:gdLst/>
            <a:ahLst/>
            <a:cxnLst/>
            <a:rect r="r" b="b" t="t" l="l"/>
            <a:pathLst>
              <a:path h="5923179" w="5923179">
                <a:moveTo>
                  <a:pt x="0" y="0"/>
                </a:moveTo>
                <a:lnTo>
                  <a:pt x="5923180" y="0"/>
                </a:lnTo>
                <a:lnTo>
                  <a:pt x="5923180" y="5923179"/>
                </a:lnTo>
                <a:lnTo>
                  <a:pt x="0" y="59231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40505" y="1534636"/>
            <a:ext cx="14799077" cy="2024097"/>
          </a:xfrm>
          <a:prstGeom prst="rect">
            <a:avLst/>
          </a:prstGeom>
        </p:spPr>
        <p:txBody>
          <a:bodyPr anchor="t" rtlCol="false" tIns="0" lIns="0" bIns="0" rIns="0">
            <a:spAutoFit/>
          </a:bodyPr>
          <a:lstStyle/>
          <a:p>
            <a:pPr algn="r">
              <a:lnSpc>
                <a:spcPts val="12563"/>
              </a:lnSpc>
            </a:pPr>
            <a:r>
              <a:rPr lang="en-US" sz="12563">
                <a:solidFill>
                  <a:srgbClr val="FFFFFF"/>
                </a:solidFill>
                <a:latin typeface="Agrandir Grand"/>
                <a:ea typeface="Agrandir Grand"/>
                <a:cs typeface="Agrandir Grand"/>
                <a:sym typeface="Agrandir Grand"/>
              </a:rPr>
              <a:t>THANK YOU</a:t>
            </a:r>
          </a:p>
        </p:txBody>
      </p:sp>
      <p:sp>
        <p:nvSpPr>
          <p:cNvPr name="Freeform 4" id="4"/>
          <p:cNvSpPr/>
          <p:nvPr/>
        </p:nvSpPr>
        <p:spPr>
          <a:xfrm flipH="false" flipV="false" rot="0">
            <a:off x="10620898" y="7353657"/>
            <a:ext cx="1353433" cy="1353433"/>
          </a:xfrm>
          <a:custGeom>
            <a:avLst/>
            <a:gdLst/>
            <a:ahLst/>
            <a:cxnLst/>
            <a:rect r="r" b="b" t="t" l="l"/>
            <a:pathLst>
              <a:path h="1353433" w="1353433">
                <a:moveTo>
                  <a:pt x="0" y="0"/>
                </a:moveTo>
                <a:lnTo>
                  <a:pt x="1353434" y="0"/>
                </a:lnTo>
                <a:lnTo>
                  <a:pt x="1353434" y="1353433"/>
                </a:lnTo>
                <a:lnTo>
                  <a:pt x="0" y="1353433"/>
                </a:lnTo>
                <a:lnTo>
                  <a:pt x="0" y="0"/>
                </a:lnTo>
                <a:close/>
              </a:path>
            </a:pathLst>
          </a:custGeom>
          <a:blipFill>
            <a:blip r:embed="rId2">
              <a:alphaModFix amt="9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605185" y="4649021"/>
            <a:ext cx="5467337" cy="1611220"/>
            <a:chOff x="0" y="0"/>
            <a:chExt cx="7289783" cy="2148293"/>
          </a:xfrm>
        </p:grpSpPr>
        <p:grpSp>
          <p:nvGrpSpPr>
            <p:cNvPr name="Group 6" id="6"/>
            <p:cNvGrpSpPr/>
            <p:nvPr/>
          </p:nvGrpSpPr>
          <p:grpSpPr>
            <a:xfrm rot="0">
              <a:off x="0" y="0"/>
              <a:ext cx="7289783" cy="2148293"/>
              <a:chOff x="0" y="0"/>
              <a:chExt cx="1457479" cy="429518"/>
            </a:xfrm>
          </p:grpSpPr>
          <p:sp>
            <p:nvSpPr>
              <p:cNvPr name="Freeform 7" id="7"/>
              <p:cNvSpPr/>
              <p:nvPr/>
            </p:nvSpPr>
            <p:spPr>
              <a:xfrm flipH="false" flipV="false" rot="0">
                <a:off x="0" y="0"/>
                <a:ext cx="1457479" cy="429518"/>
              </a:xfrm>
              <a:custGeom>
                <a:avLst/>
                <a:gdLst/>
                <a:ahLst/>
                <a:cxnLst/>
                <a:rect r="r" b="b" t="t" l="l"/>
                <a:pathLst>
                  <a:path h="429518" w="1457479">
                    <a:moveTo>
                      <a:pt x="116115" y="0"/>
                    </a:moveTo>
                    <a:lnTo>
                      <a:pt x="1341364" y="0"/>
                    </a:lnTo>
                    <a:cubicBezTo>
                      <a:pt x="1372160" y="0"/>
                      <a:pt x="1401694" y="12233"/>
                      <a:pt x="1423470" y="34009"/>
                    </a:cubicBezTo>
                    <a:cubicBezTo>
                      <a:pt x="1445245" y="55785"/>
                      <a:pt x="1457479" y="85319"/>
                      <a:pt x="1457479" y="116115"/>
                    </a:cubicBezTo>
                    <a:lnTo>
                      <a:pt x="1457479" y="313403"/>
                    </a:lnTo>
                    <a:cubicBezTo>
                      <a:pt x="1457479" y="344199"/>
                      <a:pt x="1445245" y="373733"/>
                      <a:pt x="1423470" y="395509"/>
                    </a:cubicBezTo>
                    <a:cubicBezTo>
                      <a:pt x="1401694" y="417284"/>
                      <a:pt x="1372160" y="429518"/>
                      <a:pt x="1341364" y="429518"/>
                    </a:cubicBezTo>
                    <a:lnTo>
                      <a:pt x="116115" y="429518"/>
                    </a:lnTo>
                    <a:cubicBezTo>
                      <a:pt x="85319" y="429518"/>
                      <a:pt x="55785" y="417284"/>
                      <a:pt x="34009" y="395509"/>
                    </a:cubicBezTo>
                    <a:cubicBezTo>
                      <a:pt x="12233" y="373733"/>
                      <a:pt x="0" y="344199"/>
                      <a:pt x="0" y="313403"/>
                    </a:cubicBezTo>
                    <a:lnTo>
                      <a:pt x="0" y="116115"/>
                    </a:lnTo>
                    <a:cubicBezTo>
                      <a:pt x="0" y="85319"/>
                      <a:pt x="12233" y="55785"/>
                      <a:pt x="34009" y="34009"/>
                    </a:cubicBezTo>
                    <a:cubicBezTo>
                      <a:pt x="55785" y="12233"/>
                      <a:pt x="85319" y="0"/>
                      <a:pt x="116115" y="0"/>
                    </a:cubicBezTo>
                    <a:close/>
                  </a:path>
                </a:pathLst>
              </a:custGeom>
              <a:gradFill rotWithShape="true">
                <a:gsLst>
                  <a:gs pos="0">
                    <a:srgbClr val="FFFFFF">
                      <a:alpha val="5000"/>
                    </a:srgbClr>
                  </a:gs>
                  <a:gs pos="50000">
                    <a:srgbClr val="F1F1F1">
                      <a:alpha val="5000"/>
                    </a:srgbClr>
                  </a:gs>
                  <a:gs pos="100000">
                    <a:srgbClr val="F1F1F1">
                      <a:alpha val="5000"/>
                    </a:srgbClr>
                  </a:gs>
                </a:gsLst>
                <a:lin ang="0"/>
              </a:gradFill>
            </p:spPr>
          </p:sp>
          <p:sp>
            <p:nvSpPr>
              <p:cNvPr name="TextBox 8" id="8"/>
              <p:cNvSpPr txBox="true"/>
              <p:nvPr/>
            </p:nvSpPr>
            <p:spPr>
              <a:xfrm>
                <a:off x="0" y="-57150"/>
                <a:ext cx="1457479" cy="486668"/>
              </a:xfrm>
              <a:prstGeom prst="rect">
                <a:avLst/>
              </a:prstGeom>
            </p:spPr>
            <p:txBody>
              <a:bodyPr anchor="ctr" rtlCol="false" tIns="52257" lIns="52257" bIns="52257" rIns="52257"/>
              <a:lstStyle/>
              <a:p>
                <a:pPr algn="ctr">
                  <a:lnSpc>
                    <a:spcPts val="2660"/>
                  </a:lnSpc>
                  <a:spcBef>
                    <a:spcPct val="0"/>
                  </a:spcBef>
                </a:pPr>
              </a:p>
            </p:txBody>
          </p:sp>
        </p:grpSp>
        <p:sp>
          <p:nvSpPr>
            <p:cNvPr name="TextBox 9" id="9"/>
            <p:cNvSpPr txBox="true"/>
            <p:nvPr/>
          </p:nvSpPr>
          <p:spPr>
            <a:xfrm rot="0">
              <a:off x="603200" y="429102"/>
              <a:ext cx="6070898" cy="1309138"/>
            </a:xfrm>
            <a:prstGeom prst="rect">
              <a:avLst/>
            </a:prstGeom>
          </p:spPr>
          <p:txBody>
            <a:bodyPr anchor="t" rtlCol="false" tIns="0" lIns="0" bIns="0" rIns="0">
              <a:spAutoFit/>
            </a:bodyPr>
            <a:lstStyle/>
            <a:p>
              <a:pPr algn="l">
                <a:lnSpc>
                  <a:spcPts val="2474"/>
                </a:lnSpc>
              </a:pPr>
              <a:r>
                <a:rPr lang="en-US" sz="2474" i="true">
                  <a:solidFill>
                    <a:srgbClr val="A2A2A2"/>
                  </a:solidFill>
                  <a:latin typeface="Poppins Italics"/>
                  <a:ea typeface="Poppins Italics"/>
                  <a:cs typeface="Poppins Italics"/>
                  <a:sym typeface="Poppins Italics"/>
                </a:rPr>
                <a:t>Presented By: Nishan Gary S. Jayasinghe and Phil Orlan D. Majam 8-Sampaguita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DAHEfRmrFQo</dc:identifier>
  <dcterms:modified xsi:type="dcterms:W3CDTF">2011-08-01T06:04:30Z</dcterms:modified>
  <cp:revision>1</cp:revision>
  <dc:title>Purple Gradient Project Plan Presentation </dc:title>
</cp:coreProperties>
</file>